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7" r:id="rId3"/>
    <p:sldId id="305" r:id="rId4"/>
    <p:sldId id="304" r:id="rId5"/>
    <p:sldId id="300" r:id="rId6"/>
    <p:sldId id="301" r:id="rId7"/>
    <p:sldId id="306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9" r:id="rId16"/>
    <p:sldId id="302" r:id="rId17"/>
    <p:sldId id="296" r:id="rId18"/>
    <p:sldId id="297" r:id="rId19"/>
    <p:sldId id="298" r:id="rId20"/>
    <p:sldId id="303" r:id="rId21"/>
    <p:sldId id="28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12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30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25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23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32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72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55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52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95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92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379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879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9056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11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722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12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15645-7EC7-432F-8B32-36379E3905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2EA90E3-2D65-4ADD-AF5A-5A70AE782F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09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fr-FR" sz="3600" b="1" dirty="0" smtClean="0"/>
              <a:t>Introduction</a:t>
            </a:r>
          </a:p>
          <a:p>
            <a:r>
              <a:rPr lang="fr-FR" sz="2800" b="1" dirty="0" smtClean="0"/>
              <a:t>Facturation</a:t>
            </a:r>
            <a:r>
              <a:rPr lang="fr-FR" sz="2800" dirty="0"/>
              <a:t> est une application web moderne développée avec </a:t>
            </a:r>
            <a:r>
              <a:rPr lang="fr-FR" sz="2800" dirty="0" err="1"/>
              <a:t>FastAPI</a:t>
            </a:r>
            <a:r>
              <a:rPr lang="fr-FR" sz="2800" dirty="0"/>
              <a:t> qui permet aux entreprises de gérer efficacement leur processus de facturation. Cette solution professionnelle offre une interface intuitive pour la création, la gestion et l'export de factures au format PDF.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9489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 fontScale="92500" lnSpcReduction="10000"/>
          </a:bodyPr>
          <a:lstStyle/>
          <a:p>
            <a:r>
              <a:rPr lang="fr-FR" sz="3600" b="1" dirty="0"/>
              <a:t>Points Clés du </a:t>
            </a:r>
            <a:r>
              <a:rPr lang="fr-FR" sz="3600" b="1" dirty="0" smtClean="0"/>
              <a:t>Projet</a:t>
            </a:r>
          </a:p>
          <a:p>
            <a:r>
              <a:rPr lang="fr-FR" sz="2800" b="1" dirty="0" smtClean="0"/>
              <a:t>🔒 </a:t>
            </a:r>
            <a:r>
              <a:rPr lang="fr-FR" sz="3300" b="1" dirty="0"/>
              <a:t>Sécurisé</a:t>
            </a:r>
            <a:r>
              <a:rPr lang="fr-FR" sz="3000" dirty="0"/>
              <a:t>: Système d'authentification robuste avec gestion des profils </a:t>
            </a:r>
            <a:r>
              <a:rPr lang="fr-FR" sz="3000" dirty="0" smtClean="0"/>
              <a:t>entreprises et (</a:t>
            </a:r>
            <a:r>
              <a:rPr lang="fr-FR" sz="3000" dirty="0" err="1" smtClean="0"/>
              <a:t>OAuth</a:t>
            </a:r>
            <a:r>
              <a:rPr lang="fr-FR" sz="3000" dirty="0" smtClean="0"/>
              <a:t> 2)</a:t>
            </a:r>
          </a:p>
          <a:p>
            <a:r>
              <a:rPr lang="fr-FR" sz="3200" b="1" dirty="0"/>
              <a:t>🔒 </a:t>
            </a:r>
            <a:r>
              <a:rPr lang="en-US" sz="3400" b="1" dirty="0" smtClean="0"/>
              <a:t>CSRF :</a:t>
            </a:r>
          </a:p>
          <a:p>
            <a:pPr lvl="1"/>
            <a:r>
              <a:rPr lang="en-US" sz="3000" dirty="0"/>
              <a:t>Prevents unauthorized requests from other domains</a:t>
            </a:r>
          </a:p>
          <a:p>
            <a:pPr lvl="1"/>
            <a:r>
              <a:rPr lang="en-US" sz="3000" dirty="0"/>
              <a:t>Protects against CSRF attacks where malicious sites try to submit requests on behalf of authenticated </a:t>
            </a:r>
            <a:r>
              <a:rPr lang="en-US" sz="3000" dirty="0"/>
              <a:t>users</a:t>
            </a:r>
            <a:endParaRPr lang="fr-FR" sz="3000" dirty="0"/>
          </a:p>
          <a:p>
            <a:pPr marL="0" indent="0">
              <a:buNone/>
            </a:pP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1223997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fr-FR" sz="3600" b="1" dirty="0"/>
              <a:t>Points Clés du </a:t>
            </a:r>
            <a:r>
              <a:rPr lang="fr-FR" sz="3600" b="1" dirty="0" smtClean="0"/>
              <a:t>Projet</a:t>
            </a:r>
          </a:p>
          <a:p>
            <a:r>
              <a:rPr lang="fr-FR" sz="2800" b="1" dirty="0" smtClean="0"/>
              <a:t>🔒</a:t>
            </a:r>
            <a:r>
              <a:rPr lang="fr-FR" b="1" dirty="0"/>
              <a:t> How It Works</a:t>
            </a:r>
          </a:p>
          <a:p>
            <a:r>
              <a:rPr lang="en-US" b="1" dirty="0"/>
              <a:t>Request Validation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Checks the origin of incoming requests</a:t>
            </a:r>
          </a:p>
          <a:p>
            <a:pPr lvl="1"/>
            <a:r>
              <a:rPr lang="en-US" dirty="0"/>
              <a:t>Verifies if the request comes from an allowed host</a:t>
            </a:r>
          </a:p>
          <a:p>
            <a:pPr lvl="1"/>
            <a:r>
              <a:rPr lang="en-US" dirty="0"/>
              <a:t>Validates CSRF tokens in forms/requests</a:t>
            </a:r>
          </a:p>
          <a:p>
            <a:r>
              <a:rPr lang="en-US" b="1" dirty="0"/>
              <a:t>Token Management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Works with </a:t>
            </a:r>
            <a:r>
              <a:rPr lang="en-US" dirty="0" err="1"/>
              <a:t>SessionMiddleware</a:t>
            </a:r>
            <a:r>
              <a:rPr lang="en-US" dirty="0"/>
              <a:t> to store and validate tokens</a:t>
            </a:r>
          </a:p>
          <a:p>
            <a:pPr lvl="1"/>
            <a:r>
              <a:rPr lang="en-US" dirty="0"/>
              <a:t>Automatically adds CSRF protection to non-GET requests</a:t>
            </a:r>
          </a:p>
          <a:p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250274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 fontScale="92500" lnSpcReduction="10000"/>
          </a:bodyPr>
          <a:lstStyle/>
          <a:p>
            <a:r>
              <a:rPr lang="fr-FR" sz="3600" b="1" dirty="0"/>
              <a:t>Points Clés du </a:t>
            </a:r>
            <a:r>
              <a:rPr lang="fr-FR" sz="3600" b="1" dirty="0" smtClean="0"/>
              <a:t>Projet</a:t>
            </a:r>
          </a:p>
          <a:p>
            <a:r>
              <a:rPr lang="fr-FR" sz="3300" b="1" dirty="0" smtClean="0"/>
              <a:t>Flexible</a:t>
            </a:r>
            <a:r>
              <a:rPr lang="fr-FR" sz="3000" dirty="0"/>
              <a:t>: Gestion complète des clients, produits et factures</a:t>
            </a:r>
          </a:p>
          <a:p>
            <a:r>
              <a:rPr lang="fr-FR" sz="3000" dirty="0"/>
              <a:t>💰 </a:t>
            </a:r>
            <a:r>
              <a:rPr lang="fr-FR" sz="3300" b="1" dirty="0"/>
              <a:t>Calculs Automatiques</a:t>
            </a:r>
            <a:r>
              <a:rPr lang="fr-FR" sz="3000" dirty="0"/>
              <a:t>: TVA (20%), montants HT et TTC</a:t>
            </a:r>
          </a:p>
          <a:p>
            <a:r>
              <a:rPr lang="fr-FR" sz="3000" dirty="0"/>
              <a:t>📄 </a:t>
            </a:r>
            <a:r>
              <a:rPr lang="fr-FR" sz="3400" b="1" dirty="0"/>
              <a:t>Export PDF: </a:t>
            </a:r>
            <a:r>
              <a:rPr lang="fr-FR" sz="3000" dirty="0"/>
              <a:t>Génération de factures professionnelles personnalisables</a:t>
            </a:r>
          </a:p>
          <a:p>
            <a:r>
              <a:rPr lang="fr-FR" sz="3000" dirty="0"/>
              <a:t>🎨 </a:t>
            </a:r>
            <a:r>
              <a:rPr lang="fr-FR" sz="3400" b="1" dirty="0"/>
              <a:t>Design Responsive</a:t>
            </a:r>
            <a:r>
              <a:rPr lang="fr-FR" sz="3000" dirty="0"/>
              <a:t>: Interface moderne et adaptative</a:t>
            </a:r>
          </a:p>
        </p:txBody>
      </p:sp>
    </p:spTree>
    <p:extLst>
      <p:ext uri="{BB962C8B-B14F-4D97-AF65-F5344CB8AC3E}">
        <p14:creationId xmlns:p14="http://schemas.microsoft.com/office/powerpoint/2010/main" val="156590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fr-FR" sz="3600" b="1" dirty="0"/>
              <a:t>Caractéristiques </a:t>
            </a:r>
            <a:r>
              <a:rPr lang="fr-FR" sz="3600" b="1" dirty="0" smtClean="0"/>
              <a:t>Techniques</a:t>
            </a:r>
          </a:p>
          <a:p>
            <a:r>
              <a:rPr lang="fr-FR" sz="2800" b="1" dirty="0" err="1"/>
              <a:t>Backend</a:t>
            </a:r>
            <a:r>
              <a:rPr lang="fr-FR" dirty="0"/>
              <a:t>: </a:t>
            </a:r>
            <a:r>
              <a:rPr lang="fr-FR" dirty="0" err="1"/>
              <a:t>FastAPI</a:t>
            </a:r>
            <a:r>
              <a:rPr lang="fr-FR" dirty="0"/>
              <a:t> (Python</a:t>
            </a:r>
            <a:r>
              <a:rPr lang="fr-FR" dirty="0" smtClean="0"/>
              <a:t>)</a:t>
            </a:r>
          </a:p>
          <a:p>
            <a:pPr lvl="1"/>
            <a:r>
              <a:rPr lang="fr-FR" dirty="0"/>
              <a:t>Pourquoi </a:t>
            </a:r>
            <a:r>
              <a:rPr lang="fr-FR" dirty="0" err="1"/>
              <a:t>FastAPI</a:t>
            </a:r>
            <a:r>
              <a:rPr lang="fr-FR" dirty="0"/>
              <a:t> ? Pour sa haute performance (asynchrone), sa facilité de développement (typage), sa documentation automatique (</a:t>
            </a:r>
            <a:r>
              <a:rPr lang="fr-FR" dirty="0" err="1"/>
              <a:t>Swagger</a:t>
            </a:r>
            <a:r>
              <a:rPr lang="fr-FR" dirty="0"/>
              <a:t> UI/</a:t>
            </a:r>
            <a:r>
              <a:rPr lang="fr-FR" dirty="0" err="1"/>
              <a:t>OpenAPI</a:t>
            </a:r>
            <a:r>
              <a:rPr lang="fr-FR" dirty="0"/>
              <a:t>) et son écosystème Python robuste, idéal pour des APIs rapides et maintenables</a:t>
            </a:r>
            <a:endParaRPr lang="fr-FR" dirty="0"/>
          </a:p>
          <a:p>
            <a:r>
              <a:rPr lang="fr-FR" sz="2800" b="1" dirty="0"/>
              <a:t>Base de données: </a:t>
            </a:r>
            <a:r>
              <a:rPr lang="fr-FR" dirty="0" smtClean="0"/>
              <a:t>SQL </a:t>
            </a:r>
            <a:r>
              <a:rPr lang="fr-FR" dirty="0" err="1" smtClean="0"/>
              <a:t>Alchemy</a:t>
            </a:r>
            <a:r>
              <a:rPr lang="fr-FR" dirty="0" smtClean="0"/>
              <a:t>, PostgreSQL</a:t>
            </a:r>
          </a:p>
          <a:p>
            <a:pPr lvl="1"/>
            <a:r>
              <a:rPr lang="fr-FR" dirty="0"/>
              <a:t>Pourquoi </a:t>
            </a:r>
            <a:r>
              <a:rPr lang="fr-FR" dirty="0" err="1"/>
              <a:t>SQLAlchemy</a:t>
            </a:r>
            <a:r>
              <a:rPr lang="fr-FR" dirty="0"/>
              <a:t> </a:t>
            </a:r>
            <a:r>
              <a:rPr lang="fr-FR" dirty="0" smtClean="0"/>
              <a:t>? </a:t>
            </a:r>
            <a:r>
              <a:rPr lang="fr-FR" dirty="0"/>
              <a:t>Pour son ORM puissant et flexible, facilitant l'interaction avec la base de données et permettant de basculer facilement entre différents SGBD si nécessaire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684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fr-FR" sz="3600" b="1" dirty="0"/>
              <a:t>Caractéristiques </a:t>
            </a:r>
            <a:r>
              <a:rPr lang="fr-FR" sz="3600" b="1" dirty="0" smtClean="0"/>
              <a:t>Techniques</a:t>
            </a:r>
          </a:p>
          <a:p>
            <a:r>
              <a:rPr lang="fr-FR" sz="2800" b="1" dirty="0" smtClean="0"/>
              <a:t>Génération PDF: </a:t>
            </a:r>
            <a:r>
              <a:rPr lang="fr-FR" b="1" dirty="0" err="1" smtClean="0"/>
              <a:t>WeasyPrint</a:t>
            </a:r>
            <a:endParaRPr lang="fr-FR" b="1" dirty="0" smtClean="0"/>
          </a:p>
          <a:p>
            <a:pPr lvl="1"/>
            <a:r>
              <a:rPr lang="fr-FR" sz="2000" dirty="0" smtClean="0"/>
              <a:t>Pourquoi </a:t>
            </a:r>
            <a:r>
              <a:rPr lang="fr-FR" sz="2000" dirty="0" err="1"/>
              <a:t>WeasyPrint</a:t>
            </a:r>
            <a:r>
              <a:rPr lang="fr-FR" sz="2000" dirty="0"/>
              <a:t> ? Pour sa capacité à transformer du HTML/CSS en PDF de haute qualité, offrant une grande flexibilité de personnalisation des </a:t>
            </a:r>
            <a:r>
              <a:rPr lang="fr-FR" sz="2000" dirty="0" err="1"/>
              <a:t>templates</a:t>
            </a:r>
            <a:r>
              <a:rPr lang="fr-FR" sz="2000" dirty="0"/>
              <a:t> sans avoir à gérer des bibliothèques PDF complexes</a:t>
            </a:r>
            <a:endParaRPr lang="fr-FR" sz="2000" dirty="0" smtClean="0"/>
          </a:p>
          <a:p>
            <a:r>
              <a:rPr lang="fr-FR" sz="2800" b="1" dirty="0" err="1" smtClean="0"/>
              <a:t>Templates</a:t>
            </a:r>
            <a:r>
              <a:rPr lang="fr-FR" sz="2800" b="1" dirty="0"/>
              <a:t>: </a:t>
            </a:r>
            <a:r>
              <a:rPr lang="fr-FR" b="1" dirty="0" smtClean="0"/>
              <a:t>Jinja2</a:t>
            </a:r>
          </a:p>
          <a:p>
            <a:pPr lvl="1"/>
            <a:r>
              <a:rPr lang="fr-FR" sz="2000" b="1" dirty="0"/>
              <a:t>Jinja2</a:t>
            </a:r>
            <a:r>
              <a:rPr lang="fr-FR" sz="2000" dirty="0"/>
              <a:t> est un moteur de </a:t>
            </a:r>
            <a:r>
              <a:rPr lang="fr-FR" sz="2000" dirty="0" err="1"/>
              <a:t>templating</a:t>
            </a:r>
            <a:r>
              <a:rPr lang="fr-FR" sz="2000" dirty="0"/>
              <a:t> côté serveur, souvent utilisé avec des </a:t>
            </a:r>
            <a:r>
              <a:rPr lang="fr-FR" sz="2000" dirty="0" err="1"/>
              <a:t>frameworks</a:t>
            </a:r>
            <a:r>
              <a:rPr lang="fr-FR" sz="2000" dirty="0"/>
              <a:t> Python comme </a:t>
            </a:r>
            <a:r>
              <a:rPr lang="fr-FR" sz="2000" dirty="0" err="1"/>
              <a:t>Flask</a:t>
            </a:r>
            <a:r>
              <a:rPr lang="fr-FR" sz="2000" dirty="0"/>
              <a:t> ou </a:t>
            </a:r>
            <a:r>
              <a:rPr lang="fr-FR" sz="2000" dirty="0" err="1"/>
              <a:t>FastAPI</a:t>
            </a:r>
            <a:r>
              <a:rPr lang="fr-FR" sz="2000" dirty="0"/>
              <a:t> (quand on veut générer du HTML côté </a:t>
            </a:r>
            <a:r>
              <a:rPr lang="fr-FR" sz="2000" dirty="0" smtClean="0"/>
              <a:t>serveur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7789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fr-FR" sz="3600" b="1" dirty="0"/>
              <a:t>Caractéristiques </a:t>
            </a:r>
            <a:r>
              <a:rPr lang="fr-FR" sz="3600" b="1" dirty="0" smtClean="0"/>
              <a:t>Techniques</a:t>
            </a:r>
          </a:p>
          <a:p>
            <a:r>
              <a:rPr lang="fr-FR" sz="2800" b="1" dirty="0" smtClean="0"/>
              <a:t>Styles</a:t>
            </a:r>
            <a:r>
              <a:rPr lang="fr-FR" sz="2800" b="1" dirty="0"/>
              <a:t>: </a:t>
            </a:r>
            <a:r>
              <a:rPr lang="fr-FR" dirty="0"/>
              <a:t>CSS personnalisé</a:t>
            </a:r>
          </a:p>
        </p:txBody>
      </p:sp>
    </p:spTree>
    <p:extLst>
      <p:ext uri="{BB962C8B-B14F-4D97-AF65-F5344CB8AC3E}">
        <p14:creationId xmlns:p14="http://schemas.microsoft.com/office/powerpoint/2010/main" val="6659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fr-FR" sz="3600" b="1" dirty="0"/>
              <a:t>Cette application est particulièrement adaptée aux :</a:t>
            </a:r>
            <a:endParaRPr lang="fr-FR" sz="3600" b="1" dirty="0" smtClean="0"/>
          </a:p>
          <a:p>
            <a:r>
              <a:rPr lang="fr-FR" sz="2000" b="1" dirty="0" smtClean="0"/>
              <a:t>PME(</a:t>
            </a:r>
            <a:r>
              <a:rPr lang="fr-FR" sz="2000" b="1" dirty="0"/>
              <a:t>Petite ou </a:t>
            </a:r>
            <a:r>
              <a:rPr lang="fr-FR" sz="2000" b="1" dirty="0"/>
              <a:t>moyenne) </a:t>
            </a:r>
            <a:r>
              <a:rPr lang="fr-FR" sz="2000" b="1" dirty="0"/>
              <a:t>et entrepreneurs</a:t>
            </a:r>
          </a:p>
          <a:p>
            <a:r>
              <a:rPr lang="fr-FR" sz="2000" b="1" dirty="0"/>
              <a:t>Freelances</a:t>
            </a:r>
          </a:p>
          <a:p>
            <a:r>
              <a:rPr lang="fr-FR" sz="2000" b="1" dirty="0"/>
              <a:t>Sociétés de services</a:t>
            </a:r>
          </a:p>
          <a:p>
            <a:r>
              <a:rPr lang="fr-FR" sz="2000" b="1" dirty="0"/>
              <a:t>Professionnels indépendants</a:t>
            </a:r>
          </a:p>
        </p:txBody>
      </p:sp>
    </p:spTree>
    <p:extLst>
      <p:ext uri="{BB962C8B-B14F-4D97-AF65-F5344CB8AC3E}">
        <p14:creationId xmlns:p14="http://schemas.microsoft.com/office/powerpoint/2010/main" val="257066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Aperçu</a:t>
            </a:r>
            <a:r>
              <a:rPr lang="en-US" sz="3600" b="1" dirty="0" smtClean="0"/>
              <a:t> </a:t>
            </a:r>
            <a:r>
              <a:rPr lang="en-US" sz="3600" b="1" dirty="0"/>
              <a:t>du </a:t>
            </a:r>
            <a:r>
              <a:rPr lang="en-US" sz="3600" b="1" dirty="0" err="1" smtClean="0"/>
              <a:t>Projet</a:t>
            </a:r>
            <a:endParaRPr lang="en-US" sz="3600" b="1" dirty="0" smtClean="0"/>
          </a:p>
          <a:p>
            <a:r>
              <a:rPr lang="fr-FR" b="1" dirty="0" smtClean="0"/>
              <a:t>Nom </a:t>
            </a:r>
            <a:r>
              <a:rPr lang="fr-FR" b="1" dirty="0"/>
              <a:t>du Projet</a:t>
            </a:r>
            <a:r>
              <a:rPr lang="fr-FR" dirty="0" smtClean="0"/>
              <a:t>: </a:t>
            </a:r>
            <a:r>
              <a:rPr lang="fr-FR" dirty="0"/>
              <a:t>Facturation (Système de Génération de Factures )</a:t>
            </a:r>
            <a:endParaRPr lang="fr-FR" dirty="0"/>
          </a:p>
          <a:p>
            <a:r>
              <a:rPr lang="fr-FR" b="1" dirty="0" smtClean="0"/>
              <a:t>Technologies </a:t>
            </a:r>
            <a:r>
              <a:rPr lang="fr-FR" b="1" dirty="0"/>
              <a:t>Utilisées</a:t>
            </a:r>
            <a:r>
              <a:rPr lang="fr-FR" dirty="0" smtClean="0"/>
              <a:t>: </a:t>
            </a:r>
            <a:r>
              <a:rPr lang="fr-FR" dirty="0"/>
              <a:t>Python, </a:t>
            </a:r>
            <a:r>
              <a:rPr lang="fr-FR" dirty="0" err="1"/>
              <a:t>FastAPI</a:t>
            </a:r>
            <a:r>
              <a:rPr lang="fr-FR" dirty="0"/>
              <a:t>, </a:t>
            </a:r>
            <a:r>
              <a:rPr lang="fr-FR" dirty="0" err="1"/>
              <a:t>SQLAlchemy</a:t>
            </a:r>
            <a:r>
              <a:rPr lang="fr-FR" dirty="0"/>
              <a:t>, </a:t>
            </a:r>
            <a:r>
              <a:rPr lang="fr-FR" dirty="0" err="1"/>
              <a:t>WeasyPrint</a:t>
            </a:r>
            <a:endParaRPr lang="fr-FR" dirty="0"/>
          </a:p>
          <a:p>
            <a:r>
              <a:rPr lang="fr-FR" b="1" dirty="0" smtClean="0"/>
              <a:t>Objectif</a:t>
            </a:r>
            <a:r>
              <a:rPr lang="fr-FR" dirty="0"/>
              <a:t>: Simplifier la gestion complexe et chronophage des factures, réduire les erreurs manuelles, offrir une solution professionnelle </a:t>
            </a:r>
            <a:r>
              <a:rPr lang="fr-FR" dirty="0" smtClean="0"/>
              <a:t>accessible</a:t>
            </a:r>
            <a:endParaRPr lang="fr-FR" dirty="0"/>
          </a:p>
          <a:p>
            <a:r>
              <a:rPr lang="fr-FR" b="1" dirty="0"/>
              <a:t>Public </a:t>
            </a:r>
            <a:r>
              <a:rPr lang="fr-FR" b="1" dirty="0" smtClean="0"/>
              <a:t>Cible: </a:t>
            </a:r>
            <a:r>
              <a:rPr lang="fr-FR" dirty="0"/>
              <a:t>Les PME et entrepreneurs bénéficient d'un gain de temps et d'une image professionnelle, les freelances apprécient la simplicité et l'automatisation des </a:t>
            </a:r>
            <a:r>
              <a:rPr lang="fr-FR" dirty="0" smtClean="0"/>
              <a:t>calculs.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82796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 lnSpcReduction="10000"/>
          </a:bodyPr>
          <a:lstStyle/>
          <a:p>
            <a:r>
              <a:rPr lang="en-US" sz="3600" b="1" dirty="0" err="1" smtClean="0"/>
              <a:t>Fonctionnalités</a:t>
            </a:r>
            <a:r>
              <a:rPr lang="en-US" sz="3600" b="1" dirty="0" smtClean="0"/>
              <a:t> </a:t>
            </a:r>
            <a:r>
              <a:rPr lang="en-US" sz="3600" b="1" dirty="0" err="1"/>
              <a:t>Principales</a:t>
            </a:r>
            <a:endParaRPr lang="en-US" sz="3600" b="1" dirty="0" smtClean="0"/>
          </a:p>
          <a:p>
            <a:r>
              <a:rPr lang="fr-FR" b="1" dirty="0" smtClean="0"/>
              <a:t>Gestion </a:t>
            </a:r>
            <a:r>
              <a:rPr lang="fr-FR" b="1" dirty="0"/>
              <a:t>des Factures</a:t>
            </a:r>
            <a:r>
              <a:rPr lang="fr-FR" b="1" dirty="0" smtClean="0"/>
              <a:t> </a:t>
            </a:r>
            <a:r>
              <a:rPr lang="fr-FR" dirty="0" smtClean="0"/>
              <a:t>:</a:t>
            </a:r>
          </a:p>
          <a:p>
            <a:pPr lvl="1"/>
            <a:r>
              <a:rPr lang="fr-FR" dirty="0" smtClean="0"/>
              <a:t>Non </a:t>
            </a:r>
            <a:r>
              <a:rPr lang="fr-FR" dirty="0"/>
              <a:t>seulement elle permet la création et la gestion, mais elle assure également la conformité légale et offre une vue d'ensemble claire des transactions financières</a:t>
            </a:r>
          </a:p>
          <a:p>
            <a:pPr lvl="1"/>
            <a:r>
              <a:rPr lang="fr-FR" dirty="0" smtClean="0"/>
              <a:t>Stockage des informations clients et entreprises</a:t>
            </a:r>
            <a:endParaRPr lang="en-US" dirty="0" smtClean="0"/>
          </a:p>
          <a:p>
            <a:pPr lvl="1"/>
            <a:r>
              <a:rPr lang="fr-FR" dirty="0" smtClean="0"/>
              <a:t>Calcul </a:t>
            </a:r>
            <a:r>
              <a:rPr lang="fr-FR" dirty="0"/>
              <a:t>automatique des totaux (HT, TVA, TTC)</a:t>
            </a:r>
            <a:endParaRPr lang="fr-FR" dirty="0" smtClean="0"/>
          </a:p>
          <a:p>
            <a:r>
              <a:rPr lang="fr-FR" b="1" dirty="0"/>
              <a:t>Génération </a:t>
            </a:r>
            <a:r>
              <a:rPr lang="fr-FR" b="1" dirty="0" smtClean="0"/>
              <a:t>PDF</a:t>
            </a:r>
          </a:p>
          <a:p>
            <a:pPr lvl="1"/>
            <a:r>
              <a:rPr lang="fr-FR" dirty="0"/>
              <a:t>L'export PDF n'est pas qu'un simple fichier ; il garantit un document professionnel, personnalisable à l'image de l'entreprise (logo, couleurs) et respectueux des standards comptables, éliminant le besoin d'outils tiers</a:t>
            </a:r>
          </a:p>
          <a:p>
            <a:pPr lvl="1"/>
            <a:r>
              <a:rPr lang="fr-FR" dirty="0" smtClean="0"/>
              <a:t>Personnalisation </a:t>
            </a:r>
            <a:r>
              <a:rPr lang="fr-FR" dirty="0"/>
              <a:t>du style avec CSS</a:t>
            </a:r>
          </a:p>
          <a:p>
            <a:pPr lvl="1"/>
            <a:r>
              <a:rPr lang="fr-FR" dirty="0"/>
              <a:t>Rendu dynamique des </a:t>
            </a:r>
            <a:r>
              <a:rPr lang="fr-FR" dirty="0" err="1" smtClean="0"/>
              <a:t>templates</a:t>
            </a:r>
            <a:endParaRPr lang="fr-FR" dirty="0"/>
          </a:p>
          <a:p>
            <a:pPr marL="0" indent="0">
              <a:buNone/>
            </a:pPr>
            <a:endParaRPr lang="fr-FR" b="1" dirty="0" smtClean="0"/>
          </a:p>
        </p:txBody>
      </p:sp>
    </p:spTree>
    <p:extLst>
      <p:ext uri="{BB962C8B-B14F-4D97-AF65-F5344CB8AC3E}">
        <p14:creationId xmlns:p14="http://schemas.microsoft.com/office/powerpoint/2010/main" val="407129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Fonctionnalités</a:t>
            </a:r>
            <a:r>
              <a:rPr lang="en-US" sz="3600" b="1" dirty="0" smtClean="0"/>
              <a:t> </a:t>
            </a:r>
            <a:r>
              <a:rPr lang="en-US" sz="3600" b="1" dirty="0" err="1"/>
              <a:t>Principales</a:t>
            </a:r>
            <a:endParaRPr lang="en-US" sz="3600" b="1" dirty="0" smtClean="0"/>
          </a:p>
          <a:p>
            <a:r>
              <a:rPr lang="fr-FR" b="1" dirty="0" smtClean="0"/>
              <a:t>Profils </a:t>
            </a:r>
            <a:r>
              <a:rPr lang="fr-FR" b="1" dirty="0"/>
              <a:t>d'Entreprise</a:t>
            </a:r>
            <a:r>
              <a:rPr lang="fr-FR" dirty="0" smtClean="0"/>
              <a:t>:</a:t>
            </a:r>
          </a:p>
          <a:p>
            <a:pPr lvl="1"/>
            <a:r>
              <a:rPr lang="fr-FR" dirty="0" smtClean="0"/>
              <a:t> </a:t>
            </a:r>
            <a:r>
              <a:rPr lang="fr-FR" dirty="0"/>
              <a:t>Permet à chaque utilisateur de configurer son entité, garantissant que toutes les factures émises sont conformes à son identité de marque et à ses obligations légales sans intervention manuelle répétitive</a:t>
            </a:r>
          </a:p>
          <a:p>
            <a:pPr lvl="1"/>
            <a:r>
              <a:rPr lang="fr-FR" dirty="0" smtClean="0"/>
              <a:t>Options de personnalisation de la marque</a:t>
            </a:r>
          </a:p>
          <a:p>
            <a:pPr lvl="1"/>
            <a:r>
              <a:rPr lang="fr-FR" dirty="0"/>
              <a:t>Gestion des détails </a:t>
            </a:r>
            <a:r>
              <a:rPr lang="fr-FR" dirty="0" smtClean="0"/>
              <a:t>commerciaux</a:t>
            </a:r>
          </a:p>
          <a:p>
            <a:pPr marL="0" indent="0">
              <a:buNone/>
            </a:pPr>
            <a:endParaRPr lang="fr-FR" b="1" dirty="0" smtClean="0"/>
          </a:p>
        </p:txBody>
      </p:sp>
    </p:spTree>
    <p:extLst>
      <p:ext uri="{BB962C8B-B14F-4D97-AF65-F5344CB8AC3E}">
        <p14:creationId xmlns:p14="http://schemas.microsoft.com/office/powerpoint/2010/main" val="1497833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Architecture </a:t>
            </a:r>
            <a:r>
              <a:rPr lang="en-US" sz="3600" b="1" dirty="0"/>
              <a:t>Technique</a:t>
            </a:r>
            <a:endParaRPr lang="en-US" sz="3600" b="1" dirty="0" smtClean="0"/>
          </a:p>
          <a:p>
            <a:r>
              <a:rPr lang="fr-FR" b="1" dirty="0" smtClean="0"/>
              <a:t>Composants Principaux</a:t>
            </a:r>
            <a:endParaRPr lang="fr-FR" dirty="0" smtClean="0"/>
          </a:p>
          <a:p>
            <a:pPr marL="0" indent="0">
              <a:buNone/>
            </a:pPr>
            <a:r>
              <a:rPr lang="fr-FR" b="1" dirty="0"/>
              <a:t>graph TD</a:t>
            </a:r>
          </a:p>
          <a:p>
            <a:pPr marL="0" indent="0">
              <a:buNone/>
            </a:pPr>
            <a:r>
              <a:rPr lang="fr-FR" b="1" dirty="0"/>
              <a:t>    A[Routeur </a:t>
            </a:r>
            <a:r>
              <a:rPr lang="fr-FR" b="1" dirty="0" err="1"/>
              <a:t>FastAPI</a:t>
            </a:r>
            <a:r>
              <a:rPr lang="fr-FR" b="1" dirty="0"/>
              <a:t>] --&gt; B[Moteur de Template]</a:t>
            </a:r>
          </a:p>
          <a:p>
            <a:pPr marL="0" indent="0">
              <a:buNone/>
            </a:pPr>
            <a:r>
              <a:rPr lang="fr-FR" b="1" dirty="0"/>
              <a:t>    A --&gt; C[Couche Base de Données]</a:t>
            </a:r>
          </a:p>
          <a:p>
            <a:pPr marL="0" indent="0">
              <a:buNone/>
            </a:pPr>
            <a:r>
              <a:rPr lang="fr-FR" b="1" dirty="0"/>
              <a:t>    B --&gt; D[Générateur PDF]</a:t>
            </a:r>
          </a:p>
          <a:p>
            <a:pPr marL="0" indent="0">
              <a:buNone/>
            </a:pPr>
            <a:r>
              <a:rPr lang="fr-FR" b="1" dirty="0"/>
              <a:t>    C --&gt; E[Modèles </a:t>
            </a:r>
            <a:r>
              <a:rPr lang="fr-FR" b="1" dirty="0" err="1"/>
              <a:t>SQLAlchemy</a:t>
            </a:r>
            <a:r>
              <a:rPr lang="fr-FR" b="1" dirty="0"/>
              <a:t>]</a:t>
            </a:r>
            <a:endParaRPr lang="fr-FR" b="1" dirty="0" smtClean="0"/>
          </a:p>
        </p:txBody>
      </p:sp>
    </p:spTree>
    <p:extLst>
      <p:ext uri="{BB962C8B-B14F-4D97-AF65-F5344CB8AC3E}">
        <p14:creationId xmlns:p14="http://schemas.microsoft.com/office/powerpoint/2010/main" val="337147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APIs </a:t>
            </a:r>
            <a:r>
              <a:rPr lang="en-US" sz="3600" b="1" dirty="0" err="1"/>
              <a:t>Principales</a:t>
            </a:r>
            <a:endParaRPr lang="en-US" sz="3600" b="1" dirty="0" smtClean="0"/>
          </a:p>
          <a:p>
            <a:r>
              <a:rPr lang="fr-FR" dirty="0"/>
              <a:t>GET /report/</a:t>
            </a:r>
            <a:r>
              <a:rPr lang="fr-FR" dirty="0" err="1"/>
              <a:t>invoiceNumber</a:t>
            </a:r>
            <a:r>
              <a:rPr lang="fr-FR" dirty="0"/>
              <a:t>/{</a:t>
            </a:r>
            <a:r>
              <a:rPr lang="fr-FR" dirty="0" err="1"/>
              <a:t>invoice_id</a:t>
            </a:r>
            <a:r>
              <a:rPr lang="fr-FR" dirty="0"/>
              <a:t>}: Générer formulaire de facture</a:t>
            </a:r>
          </a:p>
          <a:p>
            <a:r>
              <a:rPr lang="fr-FR" dirty="0"/>
              <a:t>GET /report/</a:t>
            </a:r>
            <a:r>
              <a:rPr lang="fr-FR" dirty="0" err="1"/>
              <a:t>pdf</a:t>
            </a:r>
            <a:r>
              <a:rPr lang="fr-FR" dirty="0"/>
              <a:t>/{</a:t>
            </a:r>
            <a:r>
              <a:rPr lang="fr-FR" dirty="0" err="1"/>
              <a:t>invoice_id</a:t>
            </a:r>
            <a:r>
              <a:rPr lang="fr-FR" dirty="0"/>
              <a:t>}: Générer facture </a:t>
            </a:r>
            <a:r>
              <a:rPr lang="fr-FR" dirty="0" smtClean="0"/>
              <a:t>PDF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81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Modèles</a:t>
            </a:r>
            <a:r>
              <a:rPr lang="en-US" sz="3600" b="1" dirty="0" smtClean="0"/>
              <a:t> </a:t>
            </a:r>
            <a:r>
              <a:rPr lang="en-US" sz="3600" b="1" dirty="0"/>
              <a:t>de </a:t>
            </a:r>
            <a:r>
              <a:rPr lang="en-US" sz="3600" b="1" dirty="0" err="1"/>
              <a:t>Données</a:t>
            </a:r>
            <a:endParaRPr lang="en-US" sz="3600" b="1" dirty="0"/>
          </a:p>
          <a:p>
            <a:r>
              <a:rPr lang="fr-FR" dirty="0" smtClean="0"/>
              <a:t>Clients </a:t>
            </a:r>
            <a:r>
              <a:rPr lang="fr-FR" dirty="0" smtClean="0">
                <a:sym typeface="Wingdings" panose="05000000000000000000" pitchFamily="2" charset="2"/>
              </a:rPr>
              <a:t>: </a:t>
            </a:r>
            <a:endParaRPr lang="fr-FR" dirty="0" smtClean="0"/>
          </a:p>
          <a:p>
            <a:r>
              <a:rPr lang="fr-FR" dirty="0" smtClean="0"/>
              <a:t>Entreprise</a:t>
            </a:r>
            <a:endParaRPr lang="fr-FR" dirty="0"/>
          </a:p>
          <a:p>
            <a:r>
              <a:rPr lang="fr-FR" dirty="0" err="1" smtClean="0"/>
              <a:t>Invoice</a:t>
            </a:r>
            <a:endParaRPr lang="fr-FR" dirty="0"/>
          </a:p>
          <a:p>
            <a:r>
              <a:rPr lang="fr-FR" dirty="0" err="1" smtClean="0"/>
              <a:t>InvoiceItem</a:t>
            </a:r>
            <a:endParaRPr lang="fr-FR" dirty="0"/>
          </a:p>
          <a:p>
            <a:r>
              <a:rPr lang="fr-FR" dirty="0" err="1"/>
              <a:t>ProductModel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12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 fontScale="77500" lnSpcReduction="20000"/>
          </a:bodyPr>
          <a:lstStyle/>
          <a:p>
            <a:r>
              <a:rPr lang="en-US" sz="3600" b="1" dirty="0" smtClean="0"/>
              <a:t>Points </a:t>
            </a:r>
            <a:r>
              <a:rPr lang="en-US" sz="3600" b="1" dirty="0"/>
              <a:t>Forts de </a:t>
            </a:r>
            <a:r>
              <a:rPr lang="en-US" sz="3600" b="1" dirty="0" err="1" smtClean="0"/>
              <a:t>l'Implémentation</a:t>
            </a:r>
            <a:endParaRPr lang="en-US" sz="3600" b="1" dirty="0" smtClean="0"/>
          </a:p>
          <a:p>
            <a:r>
              <a:rPr lang="fr-FR" dirty="0"/>
              <a:t># to </a:t>
            </a:r>
            <a:r>
              <a:rPr lang="fr-FR" dirty="0" err="1"/>
              <a:t>genraet</a:t>
            </a:r>
            <a:r>
              <a:rPr lang="fr-FR" dirty="0"/>
              <a:t> PDF</a:t>
            </a:r>
          </a:p>
          <a:p>
            <a:r>
              <a:rPr lang="fr-FR" dirty="0"/>
              <a:t>@</a:t>
            </a:r>
            <a:r>
              <a:rPr lang="fr-FR" dirty="0" err="1"/>
              <a:t>report_router.get</a:t>
            </a:r>
            <a:r>
              <a:rPr lang="fr-FR" dirty="0"/>
              <a:t>("/</a:t>
            </a:r>
            <a:r>
              <a:rPr lang="fr-FR" dirty="0" err="1"/>
              <a:t>pdf</a:t>
            </a:r>
            <a:r>
              <a:rPr lang="fr-FR" dirty="0"/>
              <a:t>/{</a:t>
            </a:r>
            <a:r>
              <a:rPr lang="fr-FR" dirty="0" err="1"/>
              <a:t>invoice_id</a:t>
            </a:r>
            <a:r>
              <a:rPr lang="fr-FR" dirty="0"/>
              <a:t>}")</a:t>
            </a:r>
          </a:p>
          <a:p>
            <a:r>
              <a:rPr lang="fr-FR" dirty="0" err="1"/>
              <a:t>async</a:t>
            </a:r>
            <a:r>
              <a:rPr lang="fr-FR" dirty="0"/>
              <a:t>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generate_pdf</a:t>
            </a:r>
            <a:r>
              <a:rPr lang="fr-FR" dirty="0" smtClean="0"/>
              <a:t>(</a:t>
            </a:r>
            <a:r>
              <a:rPr lang="fr-FR" dirty="0"/>
              <a:t>    </a:t>
            </a:r>
            <a:r>
              <a:rPr lang="fr-FR" dirty="0" err="1"/>
              <a:t>invoice_id</a:t>
            </a:r>
            <a:r>
              <a:rPr lang="fr-FR" dirty="0"/>
              <a:t>: </a:t>
            </a:r>
            <a:r>
              <a:rPr lang="fr-FR" dirty="0" err="1"/>
              <a:t>int</a:t>
            </a:r>
            <a:r>
              <a:rPr lang="fr-FR" dirty="0"/>
              <a:t>,     </a:t>
            </a:r>
            <a:r>
              <a:rPr lang="fr-FR" dirty="0" err="1"/>
              <a:t>request</a:t>
            </a:r>
            <a:r>
              <a:rPr lang="fr-FR" dirty="0"/>
              <a:t>: </a:t>
            </a:r>
            <a:r>
              <a:rPr lang="fr-FR" dirty="0" err="1"/>
              <a:t>Request</a:t>
            </a:r>
            <a:r>
              <a:rPr lang="fr-FR" dirty="0"/>
              <a:t>,     </a:t>
            </a:r>
            <a:r>
              <a:rPr lang="fr-FR" dirty="0" err="1"/>
              <a:t>db</a:t>
            </a:r>
            <a:r>
              <a:rPr lang="fr-FR" dirty="0"/>
              <a:t>: Session = </a:t>
            </a:r>
            <a:r>
              <a:rPr lang="fr-FR" dirty="0" err="1"/>
              <a:t>Depends</a:t>
            </a:r>
            <a:r>
              <a:rPr lang="fr-FR" dirty="0"/>
              <a:t>(</a:t>
            </a:r>
            <a:r>
              <a:rPr lang="fr-FR" dirty="0" err="1"/>
              <a:t>get_db</a:t>
            </a:r>
            <a:r>
              <a:rPr lang="fr-FR" dirty="0" smtClean="0"/>
              <a:t>),</a:t>
            </a:r>
            <a:r>
              <a:rPr lang="fr-FR" dirty="0"/>
              <a:t>    user: </a:t>
            </a:r>
            <a:r>
              <a:rPr lang="fr-FR" dirty="0" err="1"/>
              <a:t>dict</a:t>
            </a:r>
            <a:r>
              <a:rPr lang="fr-FR" dirty="0"/>
              <a:t> = </a:t>
            </a:r>
            <a:r>
              <a:rPr lang="fr-FR" dirty="0" err="1"/>
              <a:t>Depends</a:t>
            </a:r>
            <a:r>
              <a:rPr lang="fr-FR" dirty="0"/>
              <a:t>(</a:t>
            </a:r>
            <a:r>
              <a:rPr lang="fr-FR" dirty="0" err="1"/>
              <a:t>require_user_type</a:t>
            </a:r>
            <a:r>
              <a:rPr lang="fr-FR" dirty="0"/>
              <a:t>(</a:t>
            </a:r>
            <a:r>
              <a:rPr lang="fr-FR" dirty="0" err="1"/>
              <a:t>UserType.ENTERPRISE</a:t>
            </a:r>
            <a:r>
              <a:rPr lang="fr-FR" dirty="0"/>
              <a:t>)),</a:t>
            </a:r>
          </a:p>
          <a:p>
            <a:r>
              <a:rPr lang="fr-FR" dirty="0"/>
              <a:t>    </a:t>
            </a:r>
            <a:r>
              <a:rPr lang="fr-FR" dirty="0" err="1"/>
              <a:t>enterprise_profile</a:t>
            </a:r>
            <a:r>
              <a:rPr lang="fr-FR" dirty="0"/>
              <a:t>: </a:t>
            </a:r>
            <a:r>
              <a:rPr lang="fr-FR" dirty="0" err="1"/>
              <a:t>EnterpriseProfile</a:t>
            </a:r>
            <a:r>
              <a:rPr lang="fr-FR" dirty="0"/>
              <a:t> = </a:t>
            </a:r>
            <a:r>
              <a:rPr lang="fr-FR" dirty="0" err="1"/>
              <a:t>Depends</a:t>
            </a:r>
            <a:r>
              <a:rPr lang="fr-FR" dirty="0"/>
              <a:t>(</a:t>
            </a:r>
            <a:r>
              <a:rPr lang="fr-FR" dirty="0" err="1"/>
              <a:t>get_enterprise_profile</a:t>
            </a:r>
            <a:r>
              <a:rPr lang="fr-FR" dirty="0"/>
              <a:t>) #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line to </a:t>
            </a:r>
            <a:r>
              <a:rPr lang="fr-FR" dirty="0" err="1"/>
              <a:t>get</a:t>
            </a:r>
            <a:r>
              <a:rPr lang="fr-FR" dirty="0"/>
              <a:t> the </a:t>
            </a:r>
            <a:r>
              <a:rPr lang="fr-FR" dirty="0" err="1"/>
              <a:t>enterprise</a:t>
            </a:r>
            <a:r>
              <a:rPr lang="fr-FR" dirty="0"/>
              <a:t> profile</a:t>
            </a:r>
          </a:p>
          <a:p>
            <a:r>
              <a:rPr lang="fr-FR" dirty="0" smtClean="0"/>
              <a:t>):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    # Check </a:t>
            </a:r>
            <a:r>
              <a:rPr lang="fr-FR" dirty="0" err="1"/>
              <a:t>authorization</a:t>
            </a:r>
            <a:endParaRPr lang="fr-FR" dirty="0"/>
          </a:p>
          <a:p>
            <a:r>
              <a:rPr lang="fr-FR" dirty="0"/>
              <a:t>    </a:t>
            </a:r>
            <a:r>
              <a:rPr lang="fr-FR" dirty="0" err="1"/>
              <a:t>auth_check</a:t>
            </a:r>
            <a:r>
              <a:rPr lang="fr-FR" dirty="0"/>
              <a:t> = </a:t>
            </a:r>
            <a:r>
              <a:rPr lang="fr-FR" dirty="0" err="1"/>
              <a:t>check_authorization</a:t>
            </a:r>
            <a:r>
              <a:rPr lang="fr-FR" dirty="0"/>
              <a:t>(user, </a:t>
            </a:r>
            <a:r>
              <a:rPr lang="fr-FR" dirty="0" err="1"/>
              <a:t>redirect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r>
              <a:rPr lang="fr-FR" dirty="0"/>
              <a:t>    if </a:t>
            </a:r>
            <a:r>
              <a:rPr lang="fr-FR" dirty="0" err="1"/>
              <a:t>auth_check</a:t>
            </a:r>
            <a:r>
              <a:rPr lang="fr-FR" dirty="0"/>
              <a:t>:</a:t>
            </a:r>
          </a:p>
          <a:p>
            <a:r>
              <a:rPr lang="fr-FR" dirty="0"/>
              <a:t>        return </a:t>
            </a:r>
            <a:r>
              <a:rPr lang="fr-FR" dirty="0" err="1"/>
              <a:t>auth_check</a:t>
            </a:r>
            <a:endParaRPr lang="fr-FR" dirty="0"/>
          </a:p>
          <a:p>
            <a:r>
              <a:rPr lang="fr-FR" dirty="0"/>
              <a:t>    </a:t>
            </a:r>
            <a:r>
              <a:rPr lang="fr-FR" dirty="0" err="1"/>
              <a:t>try</a:t>
            </a:r>
            <a:r>
              <a:rPr lang="fr-FR" dirty="0"/>
              <a:t>:</a:t>
            </a:r>
          </a:p>
          <a:p>
            <a:r>
              <a:rPr lang="fr-FR" dirty="0"/>
              <a:t>        </a:t>
            </a:r>
            <a:r>
              <a:rPr lang="fr-FR" dirty="0" err="1"/>
              <a:t>invoice_data</a:t>
            </a:r>
            <a:r>
              <a:rPr lang="fr-FR" dirty="0"/>
              <a:t> = </a:t>
            </a:r>
            <a:r>
              <a:rPr lang="fr-FR" dirty="0" err="1"/>
              <a:t>get_invoice_details</a:t>
            </a:r>
            <a:r>
              <a:rPr lang="fr-FR" dirty="0"/>
              <a:t>(</a:t>
            </a:r>
            <a:r>
              <a:rPr lang="fr-FR" dirty="0" err="1"/>
              <a:t>db</a:t>
            </a:r>
            <a:r>
              <a:rPr lang="fr-FR" dirty="0"/>
              <a:t>, </a:t>
            </a:r>
            <a:r>
              <a:rPr lang="fr-FR" dirty="0" err="1"/>
              <a:t>invoice_id</a:t>
            </a:r>
            <a:r>
              <a:rPr lang="fr-FR" dirty="0"/>
              <a:t>)</a:t>
            </a:r>
          </a:p>
          <a:p>
            <a:r>
              <a:rPr lang="fr-FR" dirty="0"/>
              <a:t>        </a:t>
            </a:r>
            <a:r>
              <a:rPr lang="fr-FR" dirty="0" err="1"/>
              <a:t>html_content</a:t>
            </a:r>
            <a:r>
              <a:rPr lang="fr-FR" dirty="0"/>
              <a:t> = </a:t>
            </a:r>
            <a:r>
              <a:rPr lang="fr-FR" dirty="0" err="1"/>
              <a:t>templates.TemplateResponse</a:t>
            </a:r>
            <a:r>
              <a:rPr lang="fr-FR" dirty="0"/>
              <a:t>(</a:t>
            </a:r>
          </a:p>
          <a:p>
            <a:endParaRPr lang="en-US" sz="3600" b="1" dirty="0" smtClean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83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Points </a:t>
            </a:r>
            <a:r>
              <a:rPr lang="en-US" sz="3600" b="1" dirty="0"/>
              <a:t>Forts de </a:t>
            </a:r>
            <a:r>
              <a:rPr lang="en-US" sz="3600" b="1" dirty="0" err="1" smtClean="0"/>
              <a:t>l'Implémentation</a:t>
            </a:r>
            <a:endParaRPr lang="en-US" sz="3600" b="1" dirty="0" smtClean="0"/>
          </a:p>
          <a:p>
            <a:r>
              <a:rPr lang="fr-FR" b="1" dirty="0"/>
              <a:t>Exemple de Code </a:t>
            </a:r>
            <a:r>
              <a:rPr lang="fr-FR" b="1" dirty="0" smtClean="0"/>
              <a:t>:</a:t>
            </a:r>
            <a:r>
              <a:rPr lang="fr-FR" dirty="0" smtClean="0"/>
              <a:t> Cet </a:t>
            </a:r>
            <a:r>
              <a:rPr lang="fr-FR" dirty="0"/>
              <a:t>extrait illustre notre approche pour la génération PDF dynamique et l'intégration des </a:t>
            </a:r>
            <a:r>
              <a:rPr lang="fr-FR" dirty="0" smtClean="0"/>
              <a:t>données.</a:t>
            </a:r>
          </a:p>
          <a:p>
            <a:r>
              <a:rPr lang="fr-FR" b="1" dirty="0"/>
              <a:t>Principes de </a:t>
            </a:r>
            <a:r>
              <a:rPr lang="fr-FR" b="1" dirty="0" smtClean="0"/>
              <a:t>Design : </a:t>
            </a:r>
            <a:r>
              <a:rPr lang="fr-FR" dirty="0"/>
              <a:t>Respect des principes de la Clean Architecture" est excellent ! Développez un peu sur ce que cela implique concrètement (Ex: "Séparation des préoccupations, facilité de test, indépendance du </a:t>
            </a:r>
            <a:r>
              <a:rPr lang="fr-FR" dirty="0" smtClean="0"/>
              <a:t>Framework, </a:t>
            </a:r>
            <a:r>
              <a:rPr lang="fr-FR" dirty="0"/>
              <a:t>ce qui assure une maintenabilité et une évolutivité à long </a:t>
            </a:r>
            <a:r>
              <a:rPr lang="fr-FR" dirty="0" smtClean="0"/>
              <a:t>terme</a:t>
            </a:r>
          </a:p>
          <a:p>
            <a:r>
              <a:rPr lang="fr-FR" b="1" dirty="0"/>
              <a:t>Tests</a:t>
            </a:r>
            <a:r>
              <a:rPr lang="fr-FR" dirty="0"/>
              <a:t> Mise en place de tests unitaires pour les calculs de TVA et les logiques métiers critiques, assurant la robustesse du </a:t>
            </a:r>
            <a:r>
              <a:rPr lang="fr-FR" dirty="0" smtClean="0"/>
              <a:t>système</a:t>
            </a:r>
          </a:p>
          <a:p>
            <a:r>
              <a:rPr lang="fr-FR" dirty="0"/>
              <a:t>Gestion des erreurs / </a:t>
            </a:r>
            <a:r>
              <a:rPr lang="fr-FR" dirty="0" err="1" smtClean="0"/>
              <a:t>Logging</a:t>
            </a:r>
            <a:r>
              <a:rPr lang="fr-FR" dirty="0" smtClean="0"/>
              <a:t> :</a:t>
            </a:r>
            <a:endParaRPr lang="fr-FR" b="1" dirty="0" smtClean="0"/>
          </a:p>
          <a:p>
            <a:endParaRPr lang="fr-FR" dirty="0" smtClean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64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Fonctionnalités</a:t>
            </a:r>
            <a:r>
              <a:rPr lang="en-US" sz="3600" b="1" dirty="0" smtClean="0"/>
              <a:t> </a:t>
            </a:r>
            <a:r>
              <a:rPr lang="en-US" sz="3600" b="1" dirty="0"/>
              <a:t>de </a:t>
            </a:r>
            <a:r>
              <a:rPr lang="en-US" sz="3600" b="1" dirty="0" err="1"/>
              <a:t>Sécurité</a:t>
            </a:r>
            <a:endParaRPr lang="en-US" sz="3600" b="1" dirty="0"/>
          </a:p>
          <a:p>
            <a:r>
              <a:rPr lang="fr-FR" b="1" dirty="0"/>
              <a:t>Détails sur l'authentification </a:t>
            </a:r>
            <a:r>
              <a:rPr lang="fr-FR" b="1" dirty="0" smtClean="0"/>
              <a:t>: </a:t>
            </a:r>
            <a:r>
              <a:rPr lang="fr-FR" dirty="0"/>
              <a:t>Quel type d'authentification ? (Ex: "Authentification basée sur les </a:t>
            </a:r>
            <a:r>
              <a:rPr lang="fr-FR" dirty="0" err="1"/>
              <a:t>tokens</a:t>
            </a:r>
            <a:r>
              <a:rPr lang="fr-FR" dirty="0"/>
              <a:t> JWT pour une sécurité renforcée des API</a:t>
            </a:r>
            <a:endParaRPr lang="fr-FR" b="1" dirty="0" smtClean="0"/>
          </a:p>
          <a:p>
            <a:r>
              <a:rPr lang="fr-FR" b="1" dirty="0"/>
              <a:t>Contrôle </a:t>
            </a:r>
            <a:r>
              <a:rPr lang="fr-FR" b="1" dirty="0" smtClean="0"/>
              <a:t>d'accès:</a:t>
            </a:r>
            <a:r>
              <a:rPr lang="fr-FR" dirty="0"/>
              <a:t> Implémentation d'un contrôle d'accès basé sur les rôles (RBAC) pour restreindre l'accès aux fonctionnalités sensibles en fonction du profil utilisateur Validation </a:t>
            </a:r>
            <a:r>
              <a:rPr lang="fr-FR" dirty="0"/>
              <a:t>du profil </a:t>
            </a:r>
            <a:r>
              <a:rPr lang="fr-FR" dirty="0" smtClean="0"/>
              <a:t>entreprise</a:t>
            </a:r>
          </a:p>
          <a:p>
            <a:r>
              <a:rPr lang="fr-FR" b="1" dirty="0"/>
              <a:t>Validation des </a:t>
            </a:r>
            <a:r>
              <a:rPr lang="fr-FR" b="1" dirty="0" smtClean="0"/>
              <a:t>données:</a:t>
            </a:r>
            <a:r>
              <a:rPr lang="fr-FR" dirty="0"/>
              <a:t> Utilisation des </a:t>
            </a:r>
            <a:r>
              <a:rPr lang="fr-FR" dirty="0" err="1"/>
              <a:t>Pydantic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de </a:t>
            </a:r>
            <a:r>
              <a:rPr lang="fr-FR" dirty="0" err="1"/>
              <a:t>FastAPI</a:t>
            </a:r>
            <a:r>
              <a:rPr lang="fr-FR" dirty="0"/>
              <a:t> pour une validation robuste des données entrantes et sortantes, protégeant ainsi l'intégrité de la base de données</a:t>
            </a:r>
            <a:endParaRPr lang="fr-FR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067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Améliorations</a:t>
            </a:r>
            <a:r>
              <a:rPr lang="en-US" sz="3600" b="1" dirty="0" smtClean="0"/>
              <a:t> </a:t>
            </a:r>
            <a:r>
              <a:rPr lang="en-US" sz="3600" b="1" dirty="0"/>
              <a:t>Futures</a:t>
            </a:r>
          </a:p>
          <a:p>
            <a:r>
              <a:rPr lang="fr-FR" dirty="0"/>
              <a:t>Support multi-langues</a:t>
            </a:r>
          </a:p>
          <a:p>
            <a:r>
              <a:rPr lang="fr-FR" dirty="0"/>
              <a:t>Intégration de paiements supplémentaires</a:t>
            </a:r>
          </a:p>
          <a:p>
            <a:r>
              <a:rPr lang="fr-FR" dirty="0"/>
              <a:t>Personnalisation des modèles de factures</a:t>
            </a:r>
          </a:p>
          <a:p>
            <a:r>
              <a:rPr lang="fr-FR" dirty="0"/>
              <a:t>Système de notification par email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4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Prérequis</a:t>
            </a:r>
            <a:r>
              <a:rPr lang="en-US" sz="3600" b="1" dirty="0" smtClean="0"/>
              <a:t> </a:t>
            </a:r>
            <a:r>
              <a:rPr lang="en-US" sz="3600" b="1" dirty="0"/>
              <a:t>de </a:t>
            </a:r>
            <a:r>
              <a:rPr lang="en-US" sz="3600" b="1" dirty="0" err="1"/>
              <a:t>Déploiement</a:t>
            </a:r>
            <a:endParaRPr lang="en-US" sz="3600" b="1" dirty="0" smtClean="0"/>
          </a:p>
          <a:p>
            <a:r>
              <a:rPr lang="fr-FR" dirty="0"/>
              <a:t>Python 3.7+</a:t>
            </a:r>
          </a:p>
          <a:p>
            <a:r>
              <a:rPr lang="fr-FR" dirty="0" err="1"/>
              <a:t>FastAPI</a:t>
            </a:r>
            <a:endParaRPr lang="fr-FR" dirty="0"/>
          </a:p>
          <a:p>
            <a:r>
              <a:rPr lang="fr-FR" dirty="0" err="1"/>
              <a:t>WeasyPrint</a:t>
            </a:r>
            <a:endParaRPr lang="fr-FR" dirty="0"/>
          </a:p>
          <a:p>
            <a:r>
              <a:rPr lang="fr-FR" dirty="0"/>
              <a:t>Base de données SQL</a:t>
            </a:r>
          </a:p>
          <a:p>
            <a:r>
              <a:rPr lang="fr-FR" dirty="0"/>
              <a:t>Hébergement de fichiers </a:t>
            </a:r>
            <a:r>
              <a:rPr lang="fr-FR" dirty="0" smtClean="0"/>
              <a:t>statiques</a:t>
            </a:r>
          </a:p>
          <a:p>
            <a:r>
              <a:rPr lang="en-US" dirty="0" smtClean="0"/>
              <a:t>Poetry </a:t>
            </a:r>
            <a:endParaRPr lang="fr-FR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642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300" b="1" dirty="0"/>
              <a:t>Facturation</a:t>
            </a:r>
            <a:r>
              <a:rPr lang="fr-FR" b="1" dirty="0"/>
              <a:t> </a:t>
            </a:r>
            <a:br>
              <a:rPr lang="fr-FR" b="1" dirty="0"/>
            </a:b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Prérequis</a:t>
            </a:r>
            <a:r>
              <a:rPr lang="en-US" sz="3600" b="1" dirty="0" smtClean="0"/>
              <a:t> </a:t>
            </a:r>
            <a:r>
              <a:rPr lang="en-US" sz="3600" b="1" dirty="0"/>
              <a:t>de </a:t>
            </a:r>
            <a:r>
              <a:rPr lang="en-US" sz="3600" b="1" dirty="0" err="1" smtClean="0"/>
              <a:t>Déploiement</a:t>
            </a:r>
            <a:endParaRPr lang="en-US" sz="3600" b="1" dirty="0" smtClean="0"/>
          </a:p>
          <a:p>
            <a:r>
              <a:rPr lang="fr-FR" b="1" dirty="0"/>
              <a:t>Conteneurisation via Docker </a:t>
            </a:r>
            <a:r>
              <a:rPr lang="fr-FR" dirty="0"/>
              <a:t>pour un déploiement facilité et une portabilité maximale.</a:t>
            </a:r>
            <a:endParaRPr lang="fr-FR" dirty="0" smtClean="0"/>
          </a:p>
          <a:p>
            <a:r>
              <a:rPr lang="fr-FR" b="1" dirty="0"/>
              <a:t>Gestion des </a:t>
            </a:r>
            <a:r>
              <a:rPr lang="fr-FR" b="1" dirty="0" smtClean="0"/>
              <a:t>dépendances </a:t>
            </a:r>
            <a:r>
              <a:rPr lang="fr-FR" b="1" dirty="0"/>
              <a:t>: </a:t>
            </a:r>
            <a:r>
              <a:rPr lang="fr-FR" dirty="0"/>
              <a:t>Utilisation de requirements.txt ou </a:t>
            </a:r>
            <a:r>
              <a:rPr lang="fr-FR" dirty="0" err="1"/>
              <a:t>Poetry</a:t>
            </a:r>
            <a:r>
              <a:rPr lang="fr-FR" dirty="0"/>
              <a:t> pour une gestion claire des dépendances Python</a:t>
            </a:r>
            <a:r>
              <a:rPr lang="fr-FR" dirty="0" smtClean="0"/>
              <a:t>.</a:t>
            </a:r>
          </a:p>
          <a:p>
            <a:r>
              <a:rPr lang="fr-FR" b="1" dirty="0" err="1"/>
              <a:t>Poetry</a:t>
            </a:r>
            <a:r>
              <a:rPr lang="fr-FR" dirty="0"/>
              <a:t> est un outil de gestion de dépendances et de paquets en Python. Il vise à simplifier la gestion des projets Python en s'occupant de l'installation, de la résolution des dépendances et de la publication des paquets.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/report/invoiceNumber/{invoice_id}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formulaire de facture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var(--monaco-monospace-font)"/>
              </a:rPr>
              <a:t>GET /report/pdf/{invoice_id}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 Générer facture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80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4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990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89212" y="1573823"/>
            <a:ext cx="8915400" cy="4337399"/>
          </a:xfr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76396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717</TotalTime>
  <Words>1284</Words>
  <Application>Microsoft Office PowerPoint</Application>
  <PresentationFormat>Widescreen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Century Gothic</vt:lpstr>
      <vt:lpstr>Segoe WPC</vt:lpstr>
      <vt:lpstr>var(--monaco-monospace-font)</vt:lpstr>
      <vt:lpstr>Wingdings</vt:lpstr>
      <vt:lpstr>Wingdings 3</vt:lpstr>
      <vt:lpstr>Wisp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Facturation 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Facturation</dc:title>
  <dc:creator>Ameer Chand</dc:creator>
  <cp:lastModifiedBy>Ameer Chand</cp:lastModifiedBy>
  <cp:revision>24</cp:revision>
  <dcterms:created xsi:type="dcterms:W3CDTF">2025-06-07T10:33:57Z</dcterms:created>
  <dcterms:modified xsi:type="dcterms:W3CDTF">2025-06-07T22:31:06Z</dcterms:modified>
</cp:coreProperties>
</file>