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86" r:id="rId2"/>
    <p:sldId id="308" r:id="rId3"/>
    <p:sldId id="307" r:id="rId4"/>
    <p:sldId id="287" r:id="rId5"/>
    <p:sldId id="309" r:id="rId6"/>
    <p:sldId id="310" r:id="rId7"/>
    <p:sldId id="312" r:id="rId8"/>
    <p:sldId id="305" r:id="rId9"/>
    <p:sldId id="304" r:id="rId10"/>
    <p:sldId id="300" r:id="rId11"/>
    <p:sldId id="301" r:id="rId12"/>
    <p:sldId id="306" r:id="rId13"/>
    <p:sldId id="289" r:id="rId14"/>
    <p:sldId id="290" r:id="rId15"/>
    <p:sldId id="291" r:id="rId16"/>
    <p:sldId id="292" r:id="rId17"/>
    <p:sldId id="293" r:id="rId18"/>
    <p:sldId id="294" r:id="rId19"/>
    <p:sldId id="295" r:id="rId20"/>
    <p:sldId id="299" r:id="rId21"/>
    <p:sldId id="302" r:id="rId22"/>
    <p:sldId id="296" r:id="rId23"/>
    <p:sldId id="298" r:id="rId24"/>
    <p:sldId id="303" r:id="rId25"/>
    <p:sldId id="297" r:id="rId26"/>
    <p:sldId id="285"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7" d="100"/>
          <a:sy n="87" d="100"/>
        </p:scale>
        <p:origin x="528"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smtClean="0"/>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63915645-7EC7-432F-8B32-36379E390545}" type="datetimeFigureOut">
              <a:rPr lang="fr-FR" smtClean="0"/>
              <a:t>08/06/2025</a:t>
            </a:fld>
            <a:endParaRPr lang="fr-FR"/>
          </a:p>
        </p:txBody>
      </p:sp>
      <p:sp>
        <p:nvSpPr>
          <p:cNvPr id="5" name="Footer Placeholder 4"/>
          <p:cNvSpPr>
            <a:spLocks noGrp="1"/>
          </p:cNvSpPr>
          <p:nvPr>
            <p:ph type="ftr" sz="quarter" idx="11"/>
          </p:nvPr>
        </p:nvSpPr>
        <p:spPr/>
        <p:txBody>
          <a:bodyPr/>
          <a:lstStyle/>
          <a:p>
            <a:endParaRPr lang="fr-FR"/>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4501279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smtClean="0"/>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3915645-7EC7-432F-8B32-36379E390545}" type="datetimeFigureOut">
              <a:rPr lang="fr-FR" smtClean="0"/>
              <a:t>08/06/2025</a:t>
            </a:fld>
            <a:endParaRPr lang="fr-FR"/>
          </a:p>
        </p:txBody>
      </p:sp>
      <p:sp>
        <p:nvSpPr>
          <p:cNvPr id="5" name="Footer Placeholder 4"/>
          <p:cNvSpPr>
            <a:spLocks noGrp="1"/>
          </p:cNvSpPr>
          <p:nvPr>
            <p:ph type="ftr" sz="quarter" idx="11"/>
          </p:nvPr>
        </p:nvSpPr>
        <p:spPr/>
        <p:txBody>
          <a:bodyPr/>
          <a:lstStyle/>
          <a:p>
            <a:endParaRPr lang="fr-FR"/>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14843016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3915645-7EC7-432F-8B32-36379E390545}" type="datetimeFigureOut">
              <a:rPr lang="fr-FR" smtClean="0"/>
              <a:t>08/06/2025</a:t>
            </a:fld>
            <a:endParaRPr lang="fr-FR"/>
          </a:p>
        </p:txBody>
      </p:sp>
      <p:sp>
        <p:nvSpPr>
          <p:cNvPr id="5" name="Footer Placeholder 4"/>
          <p:cNvSpPr>
            <a:spLocks noGrp="1"/>
          </p:cNvSpPr>
          <p:nvPr>
            <p:ph type="ftr" sz="quarter" idx="11"/>
          </p:nvPr>
        </p:nvSpPr>
        <p:spPr/>
        <p:txBody>
          <a:bodyPr/>
          <a:lstStyle/>
          <a:p>
            <a:endParaRPr lang="fr-FR"/>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33732583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63915645-7EC7-432F-8B32-36379E390545}" type="datetimeFigureOut">
              <a:rPr lang="fr-FR" smtClean="0"/>
              <a:t>08/06/2025</a:t>
            </a:fld>
            <a:endParaRPr lang="fr-FR"/>
          </a:p>
        </p:txBody>
      </p:sp>
      <p:sp>
        <p:nvSpPr>
          <p:cNvPr id="6" name="Footer Placeholder 5"/>
          <p:cNvSpPr>
            <a:spLocks noGrp="1"/>
          </p:cNvSpPr>
          <p:nvPr>
            <p:ph type="ftr" sz="quarter" idx="11"/>
          </p:nvPr>
        </p:nvSpPr>
        <p:spPr/>
        <p:txBody>
          <a:bodyPr/>
          <a:lstStyle/>
          <a:p>
            <a:endParaRPr lang="fr-FR"/>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26942384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63915645-7EC7-432F-8B32-36379E390545}" type="datetimeFigureOut">
              <a:rPr lang="fr-FR" smtClean="0"/>
              <a:t>08/06/2025</a:t>
            </a:fld>
            <a:endParaRPr lang="fr-FR"/>
          </a:p>
        </p:txBody>
      </p:sp>
      <p:sp>
        <p:nvSpPr>
          <p:cNvPr id="8" name="Footer Placeholder 7"/>
          <p:cNvSpPr>
            <a:spLocks noGrp="1"/>
          </p:cNvSpPr>
          <p:nvPr>
            <p:ph type="ftr" sz="quarter" idx="11"/>
          </p:nvPr>
        </p:nvSpPr>
        <p:spPr/>
        <p:txBody>
          <a:bodyPr/>
          <a:lstStyle/>
          <a:p>
            <a:endParaRPr lang="fr-FR"/>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39433225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3915645-7EC7-432F-8B32-36379E390545}" type="datetimeFigureOut">
              <a:rPr lang="fr-FR" smtClean="0"/>
              <a:t>08/06/2025</a:t>
            </a:fld>
            <a:endParaRPr lang="fr-FR"/>
          </a:p>
        </p:txBody>
      </p:sp>
      <p:sp>
        <p:nvSpPr>
          <p:cNvPr id="4" name="Footer Placeholder 3"/>
          <p:cNvSpPr>
            <a:spLocks noGrp="1"/>
          </p:cNvSpPr>
          <p:nvPr>
            <p:ph type="ftr" sz="quarter" idx="11"/>
          </p:nvPr>
        </p:nvSpPr>
        <p:spPr/>
        <p:txBody>
          <a:bodyPr/>
          <a:lstStyle/>
          <a:p>
            <a:endParaRPr lang="fr-FR"/>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13607266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915645-7EC7-432F-8B32-36379E390545}" type="datetimeFigureOut">
              <a:rPr lang="fr-FR" smtClean="0"/>
              <a:t>08/06/2025</a:t>
            </a:fld>
            <a:endParaRPr lang="fr-FR"/>
          </a:p>
        </p:txBody>
      </p:sp>
      <p:sp>
        <p:nvSpPr>
          <p:cNvPr id="3" name="Footer Placeholder 2"/>
          <p:cNvSpPr>
            <a:spLocks noGrp="1"/>
          </p:cNvSpPr>
          <p:nvPr>
            <p:ph type="ftr" sz="quarter" idx="11"/>
          </p:nvPr>
        </p:nvSpPr>
        <p:spPr/>
        <p:txBody>
          <a:bodyPr/>
          <a:lstStyle/>
          <a:p>
            <a:endParaRPr lang="fr-FR"/>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30205556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smtClean="0"/>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63915645-7EC7-432F-8B32-36379E390545}" type="datetimeFigureOut">
              <a:rPr lang="fr-FR" smtClean="0"/>
              <a:t>08/06/2025</a:t>
            </a:fld>
            <a:endParaRPr lang="fr-FR"/>
          </a:p>
        </p:txBody>
      </p:sp>
      <p:sp>
        <p:nvSpPr>
          <p:cNvPr id="6" name="Footer Placeholder 5"/>
          <p:cNvSpPr>
            <a:spLocks noGrp="1"/>
          </p:cNvSpPr>
          <p:nvPr>
            <p:ph type="ftr" sz="quarter" idx="11"/>
          </p:nvPr>
        </p:nvSpPr>
        <p:spPr/>
        <p:txBody>
          <a:bodyPr/>
          <a:lstStyle/>
          <a:p>
            <a:endParaRPr lang="fr-FR"/>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37375245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63915645-7EC7-432F-8B32-36379E390545}" type="datetimeFigureOut">
              <a:rPr lang="fr-FR" smtClean="0"/>
              <a:t>08/06/2025</a:t>
            </a:fld>
            <a:endParaRPr lang="fr-FR"/>
          </a:p>
        </p:txBody>
      </p:sp>
      <p:sp>
        <p:nvSpPr>
          <p:cNvPr id="6" name="Footer Placeholder 5"/>
          <p:cNvSpPr>
            <a:spLocks noGrp="1"/>
          </p:cNvSpPr>
          <p:nvPr>
            <p:ph type="ftr" sz="quarter" idx="11"/>
          </p:nvPr>
        </p:nvSpPr>
        <p:spPr/>
        <p:txBody>
          <a:bodyPr/>
          <a:lstStyle/>
          <a:p>
            <a:endParaRPr lang="fr-FR"/>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20419535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3915645-7EC7-432F-8B32-36379E390545}" type="datetimeFigureOut">
              <a:rPr lang="fr-FR" smtClean="0"/>
              <a:t>08/06/2025</a:t>
            </a:fld>
            <a:endParaRPr lang="fr-FR"/>
          </a:p>
        </p:txBody>
      </p:sp>
      <p:sp>
        <p:nvSpPr>
          <p:cNvPr id="5" name="Footer Placeholder 4"/>
          <p:cNvSpPr>
            <a:spLocks noGrp="1"/>
          </p:cNvSpPr>
          <p:nvPr>
            <p:ph type="ftr" sz="quarter" idx="11"/>
          </p:nvPr>
        </p:nvSpPr>
        <p:spPr/>
        <p:txBody>
          <a:bodyPr/>
          <a:lstStyle/>
          <a:p>
            <a:endParaRPr lang="fr-FR"/>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31899205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smtClean="0"/>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3915645-7EC7-432F-8B32-36379E390545}" type="datetimeFigureOut">
              <a:rPr lang="fr-FR" smtClean="0"/>
              <a:t>08/06/2025</a:t>
            </a:fld>
            <a:endParaRPr lang="fr-FR"/>
          </a:p>
        </p:txBody>
      </p:sp>
      <p:sp>
        <p:nvSpPr>
          <p:cNvPr id="5" name="Footer Placeholder 4"/>
          <p:cNvSpPr>
            <a:spLocks noGrp="1"/>
          </p:cNvSpPr>
          <p:nvPr>
            <p:ph type="ftr" sz="quarter" idx="11"/>
          </p:nvPr>
        </p:nvSpPr>
        <p:spPr/>
        <p:txBody>
          <a:bodyPr/>
          <a:lstStyle/>
          <a:p>
            <a:endParaRPr lang="fr-FR"/>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62EA90E3-2D65-4ADD-AF5A-5A70AE782F8B}" type="slidenum">
              <a:rPr lang="fr-FR" smtClean="0"/>
              <a:t>‹#›</a:t>
            </a:fld>
            <a:endParaRPr lang="fr-FR"/>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2033793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smtClean="0"/>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Edit Master text styles</a:t>
            </a:r>
          </a:p>
        </p:txBody>
      </p:sp>
      <p:sp>
        <p:nvSpPr>
          <p:cNvPr id="5" name="Date Placeholder 4"/>
          <p:cNvSpPr>
            <a:spLocks noGrp="1"/>
          </p:cNvSpPr>
          <p:nvPr>
            <p:ph type="dt" sz="half" idx="10"/>
          </p:nvPr>
        </p:nvSpPr>
        <p:spPr/>
        <p:txBody>
          <a:bodyPr/>
          <a:lstStyle/>
          <a:p>
            <a:fld id="{63915645-7EC7-432F-8B32-36379E390545}" type="datetimeFigureOut">
              <a:rPr lang="fr-FR" smtClean="0"/>
              <a:t>08/06/2025</a:t>
            </a:fld>
            <a:endParaRPr lang="fr-FR"/>
          </a:p>
        </p:txBody>
      </p:sp>
      <p:sp>
        <p:nvSpPr>
          <p:cNvPr id="6" name="Footer Placeholder 5"/>
          <p:cNvSpPr>
            <a:spLocks noGrp="1"/>
          </p:cNvSpPr>
          <p:nvPr>
            <p:ph type="ftr" sz="quarter" idx="11"/>
          </p:nvPr>
        </p:nvSpPr>
        <p:spPr/>
        <p:txBody>
          <a:bodyPr/>
          <a:lstStyle/>
          <a:p>
            <a:endParaRPr lang="fr-FR"/>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29308799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Edit Master text styles</a:t>
            </a:r>
          </a:p>
        </p:txBody>
      </p:sp>
      <p:sp>
        <p:nvSpPr>
          <p:cNvPr id="5" name="Date Placeholder 4"/>
          <p:cNvSpPr>
            <a:spLocks noGrp="1"/>
          </p:cNvSpPr>
          <p:nvPr>
            <p:ph type="dt" sz="half" idx="10"/>
          </p:nvPr>
        </p:nvSpPr>
        <p:spPr/>
        <p:txBody>
          <a:bodyPr/>
          <a:lstStyle/>
          <a:p>
            <a:fld id="{63915645-7EC7-432F-8B32-36379E390545}" type="datetimeFigureOut">
              <a:rPr lang="fr-FR" smtClean="0"/>
              <a:t>08/06/2025</a:t>
            </a:fld>
            <a:endParaRPr lang="fr-FR"/>
          </a:p>
        </p:txBody>
      </p:sp>
      <p:sp>
        <p:nvSpPr>
          <p:cNvPr id="6" name="Footer Placeholder 5"/>
          <p:cNvSpPr>
            <a:spLocks noGrp="1"/>
          </p:cNvSpPr>
          <p:nvPr>
            <p:ph type="ftr" sz="quarter" idx="11"/>
          </p:nvPr>
        </p:nvSpPr>
        <p:spPr/>
        <p:txBody>
          <a:bodyPr/>
          <a:lstStyle/>
          <a:p>
            <a:endParaRPr lang="fr-FR"/>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2EA90E3-2D65-4ADD-AF5A-5A70AE782F8B}" type="slidenum">
              <a:rPr lang="fr-FR" smtClean="0"/>
              <a:t>‹#›</a:t>
            </a:fld>
            <a:endParaRPr lang="fr-FR"/>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7490564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Edit Master text styles</a:t>
            </a:r>
          </a:p>
        </p:txBody>
      </p:sp>
      <p:sp>
        <p:nvSpPr>
          <p:cNvPr id="5" name="Date Placeholder 4"/>
          <p:cNvSpPr>
            <a:spLocks noGrp="1"/>
          </p:cNvSpPr>
          <p:nvPr>
            <p:ph type="dt" sz="half" idx="10"/>
          </p:nvPr>
        </p:nvSpPr>
        <p:spPr/>
        <p:txBody>
          <a:bodyPr/>
          <a:lstStyle/>
          <a:p>
            <a:fld id="{63915645-7EC7-432F-8B32-36379E390545}" type="datetimeFigureOut">
              <a:rPr lang="fr-FR" smtClean="0"/>
              <a:t>08/06/2025</a:t>
            </a:fld>
            <a:endParaRPr lang="fr-FR"/>
          </a:p>
        </p:txBody>
      </p:sp>
      <p:sp>
        <p:nvSpPr>
          <p:cNvPr id="6" name="Footer Placeholder 5"/>
          <p:cNvSpPr>
            <a:spLocks noGrp="1"/>
          </p:cNvSpPr>
          <p:nvPr>
            <p:ph type="ftr" sz="quarter" idx="11"/>
          </p:nvPr>
        </p:nvSpPr>
        <p:spPr/>
        <p:txBody>
          <a:bodyPr/>
          <a:lstStyle/>
          <a:p>
            <a:endParaRPr lang="fr-FR"/>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10351142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3915645-7EC7-432F-8B32-36379E390545}" type="datetimeFigureOut">
              <a:rPr lang="fr-FR" smtClean="0"/>
              <a:t>08/06/2025</a:t>
            </a:fld>
            <a:endParaRPr lang="fr-FR"/>
          </a:p>
        </p:txBody>
      </p:sp>
      <p:sp>
        <p:nvSpPr>
          <p:cNvPr id="5" name="Footer Placeholder 4"/>
          <p:cNvSpPr>
            <a:spLocks noGrp="1"/>
          </p:cNvSpPr>
          <p:nvPr>
            <p:ph type="ftr" sz="quarter" idx="11"/>
          </p:nvPr>
        </p:nvSpPr>
        <p:spPr/>
        <p:txBody>
          <a:bodyPr/>
          <a:lstStyle/>
          <a:p>
            <a:endParaRPr lang="fr-FR"/>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375172244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3915645-7EC7-432F-8B32-36379E390545}" type="datetimeFigureOut">
              <a:rPr lang="fr-FR" smtClean="0"/>
              <a:t>08/06/2025</a:t>
            </a:fld>
            <a:endParaRPr lang="fr-FR"/>
          </a:p>
        </p:txBody>
      </p:sp>
      <p:sp>
        <p:nvSpPr>
          <p:cNvPr id="5" name="Footer Placeholder 4"/>
          <p:cNvSpPr>
            <a:spLocks noGrp="1"/>
          </p:cNvSpPr>
          <p:nvPr>
            <p:ph type="ftr" sz="quarter" idx="11"/>
          </p:nvPr>
        </p:nvSpPr>
        <p:spPr/>
        <p:txBody>
          <a:bodyPr/>
          <a:lstStyle/>
          <a:p>
            <a:endParaRPr lang="fr-FR"/>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62EA90E3-2D65-4ADD-AF5A-5A70AE782F8B}" type="slidenum">
              <a:rPr lang="fr-FR" smtClean="0"/>
              <a:t>‹#›</a:t>
            </a:fld>
            <a:endParaRPr lang="fr-FR"/>
          </a:p>
        </p:txBody>
      </p:sp>
    </p:spTree>
    <p:extLst>
      <p:ext uri="{BB962C8B-B14F-4D97-AF65-F5344CB8AC3E}">
        <p14:creationId xmlns:p14="http://schemas.microsoft.com/office/powerpoint/2010/main" val="36911208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63915645-7EC7-432F-8B32-36379E390545}" type="datetimeFigureOut">
              <a:rPr lang="fr-FR" smtClean="0"/>
              <a:t>08/06/2025</a:t>
            </a:fld>
            <a:endParaRPr lang="fr-FR"/>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fr-FR"/>
          </a:p>
        </p:txBody>
      </p:sp>
      <p:sp>
        <p:nvSpPr>
          <p:cNvPr id="6" name="Slide Number Placeholder 5"/>
          <p:cNvSpPr>
            <a:spLocks noGrp="1"/>
          </p:cNvSpPr>
          <p:nvPr>
            <p:ph type="sldNum" sz="quarter" idx="4"/>
          </p:nvPr>
        </p:nvSpPr>
        <p:spPr>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62EA90E3-2D65-4ADD-AF5A-5A70AE782F8B}" type="slidenum">
              <a:rPr lang="fr-FR" smtClean="0"/>
              <a:t>‹#›</a:t>
            </a:fld>
            <a:endParaRPr lang="fr-FR"/>
          </a:p>
        </p:txBody>
      </p:sp>
    </p:spTree>
    <p:extLst>
      <p:ext uri="{BB962C8B-B14F-4D97-AF65-F5344CB8AC3E}">
        <p14:creationId xmlns:p14="http://schemas.microsoft.com/office/powerpoint/2010/main" val="189509625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fontScale="77500" lnSpcReduction="20000"/>
          </a:bodyPr>
          <a:lstStyle/>
          <a:p>
            <a:r>
              <a:rPr lang="fr-FR" sz="3600" b="1" dirty="0"/>
              <a:t>À propos de </a:t>
            </a:r>
            <a:r>
              <a:rPr lang="fr-FR" sz="3600" b="1" dirty="0" smtClean="0"/>
              <a:t>moi</a:t>
            </a:r>
          </a:p>
          <a:p>
            <a:r>
              <a:rPr lang="fr-FR" sz="3600" dirty="0" smtClean="0"/>
              <a:t>Bonjour </a:t>
            </a:r>
            <a:r>
              <a:rPr lang="fr-FR" sz="3600" dirty="0"/>
              <a:t>à tous </a:t>
            </a:r>
            <a:r>
              <a:rPr lang="fr-FR" sz="3600" dirty="0" smtClean="0"/>
              <a:t>et toutes!</a:t>
            </a:r>
            <a:endParaRPr lang="fr-FR" sz="3600" dirty="0"/>
          </a:p>
          <a:p>
            <a:r>
              <a:rPr lang="fr-FR" sz="3600" dirty="0"/>
              <a:t>Je m'appelle </a:t>
            </a:r>
            <a:r>
              <a:rPr lang="fr-FR" sz="3600" b="1" dirty="0"/>
              <a:t>Ameer Chand</a:t>
            </a:r>
            <a:r>
              <a:rPr lang="fr-FR" sz="3600" dirty="0"/>
              <a:t>, et je suis ravi de vous présenter aujourd'hui mon projet : </a:t>
            </a:r>
            <a:r>
              <a:rPr lang="fr-FR" sz="3600" b="1" dirty="0"/>
              <a:t>Facturation</a:t>
            </a:r>
            <a:r>
              <a:rPr lang="fr-FR" sz="3600" dirty="0"/>
              <a:t>. Fort de mon expérience passée en tant que développeur iOS au Pakistan, j'ai eu l'opportunité d'observer de près un défi commun pour de nombreuses entreprises : la gestion des factures. C'est cette observation qui a été ma principale motivation. </a:t>
            </a:r>
            <a:endParaRPr lang="fr-FR" sz="3600" b="1" dirty="0" smtClean="0"/>
          </a:p>
        </p:txBody>
      </p:sp>
    </p:spTree>
    <p:extLst>
      <p:ext uri="{BB962C8B-B14F-4D97-AF65-F5344CB8AC3E}">
        <p14:creationId xmlns:p14="http://schemas.microsoft.com/office/powerpoint/2010/main" val="349489805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fontScale="92500" lnSpcReduction="10000"/>
          </a:bodyPr>
          <a:lstStyle/>
          <a:p>
            <a:r>
              <a:rPr lang="fr-FR" sz="3600" dirty="0"/>
              <a:t>J'ai constaté que beaucoup de PME paient des sommes non négligeables, parfois jusqu'à 50 euros chaque mois, simplement pour gérer leurs processus de facturation. Mon objectif avec Facturation est de leur offrir une solution moderne, performante et accessible, qui simplifie cette tâche et leur apporte une réelle valeur ajoutée.</a:t>
            </a:r>
            <a:endParaRPr lang="fr-FR" sz="3600" dirty="0"/>
          </a:p>
        </p:txBody>
      </p:sp>
    </p:spTree>
    <p:extLst>
      <p:ext uri="{BB962C8B-B14F-4D97-AF65-F5344CB8AC3E}">
        <p14:creationId xmlns:p14="http://schemas.microsoft.com/office/powerpoint/2010/main" val="365797356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fr-FR" sz="3600" b="1" dirty="0"/>
              <a:t>Présentation du </a:t>
            </a:r>
            <a:r>
              <a:rPr lang="fr-FR" sz="3600" b="1" dirty="0" smtClean="0"/>
              <a:t>projet</a:t>
            </a:r>
          </a:p>
          <a:p>
            <a:r>
              <a:rPr lang="fr-FR" sz="2800" b="1" dirty="0" smtClean="0"/>
              <a:t>Facturation</a:t>
            </a:r>
            <a:r>
              <a:rPr lang="fr-FR" sz="2800" dirty="0"/>
              <a:t> est une application web moderne développée avec </a:t>
            </a:r>
            <a:r>
              <a:rPr lang="fr-FR" sz="2800" dirty="0" err="1"/>
              <a:t>FastAPI</a:t>
            </a:r>
            <a:r>
              <a:rPr lang="fr-FR" sz="2800" dirty="0"/>
              <a:t> qui permet aux entreprises de gérer efficacement leur processus de facturation. Cette solution professionnelle offre une interface intuitive pour la création, la gestion et l'export de factures au format PDF.</a:t>
            </a:r>
          </a:p>
        </p:txBody>
      </p:sp>
    </p:spTree>
    <p:extLst>
      <p:ext uri="{BB962C8B-B14F-4D97-AF65-F5344CB8AC3E}">
        <p14:creationId xmlns:p14="http://schemas.microsoft.com/office/powerpoint/2010/main" val="143702559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fontScale="92500" lnSpcReduction="10000"/>
          </a:bodyPr>
          <a:lstStyle/>
          <a:p>
            <a:r>
              <a:rPr lang="fr-FR" sz="3600" b="1" dirty="0"/>
              <a:t>Points Clés du </a:t>
            </a:r>
            <a:r>
              <a:rPr lang="fr-FR" sz="3600" b="1" dirty="0" smtClean="0"/>
              <a:t>Projet</a:t>
            </a:r>
          </a:p>
          <a:p>
            <a:r>
              <a:rPr lang="fr-FR" sz="2800" b="1" dirty="0" smtClean="0"/>
              <a:t>🔒 </a:t>
            </a:r>
            <a:r>
              <a:rPr lang="fr-FR" sz="3300" b="1" dirty="0"/>
              <a:t>Sécurisé</a:t>
            </a:r>
            <a:r>
              <a:rPr lang="fr-FR" sz="3000" dirty="0"/>
              <a:t>: Système d'authentification robuste avec gestion des profils </a:t>
            </a:r>
            <a:r>
              <a:rPr lang="fr-FR" sz="3000" dirty="0" smtClean="0"/>
              <a:t>entreprises et (</a:t>
            </a:r>
            <a:r>
              <a:rPr lang="fr-FR" sz="3000" dirty="0" err="1" smtClean="0"/>
              <a:t>OAuth</a:t>
            </a:r>
            <a:r>
              <a:rPr lang="fr-FR" sz="3000" dirty="0" smtClean="0"/>
              <a:t> 2)</a:t>
            </a:r>
          </a:p>
          <a:p>
            <a:r>
              <a:rPr lang="fr-FR" sz="3200" b="1" dirty="0"/>
              <a:t>🔒 </a:t>
            </a:r>
            <a:r>
              <a:rPr lang="en-US" sz="3400" b="1" dirty="0" smtClean="0"/>
              <a:t>CSRF :</a:t>
            </a:r>
          </a:p>
          <a:p>
            <a:pPr lvl="1"/>
            <a:r>
              <a:rPr lang="fr-FR" sz="3000" dirty="0" smtClean="0"/>
              <a:t>Empêche </a:t>
            </a:r>
            <a:r>
              <a:rPr lang="fr-FR" sz="3000" dirty="0"/>
              <a:t>les demandes non autorisées provenant d'autres domaines</a:t>
            </a:r>
            <a:endParaRPr lang="en-US" sz="3000" dirty="0" smtClean="0"/>
          </a:p>
          <a:p>
            <a:pPr lvl="1"/>
            <a:r>
              <a:rPr lang="fr-FR" sz="3000" dirty="0" smtClean="0"/>
              <a:t>Protège </a:t>
            </a:r>
            <a:r>
              <a:rPr lang="fr-FR" sz="3000" dirty="0"/>
              <a:t>contre les attaques CSRF où des sites malveillants tentent de soumettre des requêtes au nom d'utilisateurs authentifiés</a:t>
            </a:r>
            <a:endParaRPr lang="fr-FR" sz="3000" dirty="0"/>
          </a:p>
        </p:txBody>
      </p:sp>
    </p:spTree>
    <p:extLst>
      <p:ext uri="{BB962C8B-B14F-4D97-AF65-F5344CB8AC3E}">
        <p14:creationId xmlns:p14="http://schemas.microsoft.com/office/powerpoint/2010/main" val="122399716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fr-FR" sz="3600" b="1" dirty="0"/>
              <a:t>Points Clés du </a:t>
            </a:r>
            <a:r>
              <a:rPr lang="fr-FR" sz="3600" b="1" dirty="0" smtClean="0"/>
              <a:t>Projet</a:t>
            </a:r>
          </a:p>
          <a:p>
            <a:r>
              <a:rPr lang="fr-FR" sz="2800" b="1" dirty="0" smtClean="0"/>
              <a:t>🔒 </a:t>
            </a:r>
            <a:r>
              <a:rPr lang="fr-FR" sz="3300" b="1" dirty="0"/>
              <a:t>Sécurisé</a:t>
            </a:r>
            <a:r>
              <a:rPr lang="fr-FR" sz="3000" dirty="0"/>
              <a:t>: Système d'authentification robuste avec gestion des profils </a:t>
            </a:r>
            <a:r>
              <a:rPr lang="fr-FR" sz="3000" dirty="0" smtClean="0"/>
              <a:t>entreprises et (</a:t>
            </a:r>
            <a:r>
              <a:rPr lang="fr-FR" sz="3000" dirty="0" err="1" smtClean="0"/>
              <a:t>OAuth</a:t>
            </a:r>
            <a:r>
              <a:rPr lang="fr-FR" sz="3000" dirty="0" smtClean="0"/>
              <a:t> 2)</a:t>
            </a:r>
          </a:p>
          <a:p>
            <a:r>
              <a:rPr lang="fr-FR" sz="3200" b="1" dirty="0"/>
              <a:t>🔒 </a:t>
            </a:r>
            <a:r>
              <a:rPr lang="en-US" sz="3400" b="1" dirty="0" smtClean="0"/>
              <a:t>XSS</a:t>
            </a:r>
            <a:r>
              <a:rPr lang="en-US" sz="3400" b="1" dirty="0" smtClean="0"/>
              <a:t> :</a:t>
            </a:r>
          </a:p>
          <a:p>
            <a:endParaRPr lang="en-US" sz="3400" b="1" dirty="0" smtClean="0"/>
          </a:p>
        </p:txBody>
      </p:sp>
    </p:spTree>
    <p:extLst>
      <p:ext uri="{BB962C8B-B14F-4D97-AF65-F5344CB8AC3E}">
        <p14:creationId xmlns:p14="http://schemas.microsoft.com/office/powerpoint/2010/main" val="143004291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fr-FR" sz="3600" b="1" dirty="0" smtClean="0"/>
              <a:t>XSS(</a:t>
            </a:r>
          </a:p>
          <a:p>
            <a:r>
              <a:rPr lang="fr-FR" sz="2800" b="1" dirty="0" smtClean="0"/>
              <a:t> </a:t>
            </a:r>
            <a:r>
              <a:rPr lang="fr-FR" sz="2800" b="1" dirty="0" smtClean="0"/>
              <a:t>✅ Les balises JavaScript sont affichées comme du texte</a:t>
            </a:r>
          </a:p>
          <a:p>
            <a:r>
              <a:rPr lang="fr-FR" sz="2800" b="1" dirty="0" smtClean="0"/>
              <a:t>✅ </a:t>
            </a:r>
            <a:r>
              <a:rPr lang="fr-FR" sz="2800" b="1" dirty="0"/>
              <a:t>Les entités HTML sont </a:t>
            </a:r>
            <a:r>
              <a:rPr lang="fr-FR" sz="2800" b="1" dirty="0" smtClean="0"/>
              <a:t>échappées</a:t>
            </a:r>
          </a:p>
          <a:p>
            <a:r>
              <a:rPr lang="fr-FR" sz="2800" b="1" dirty="0" smtClean="0"/>
              <a:t>✅ </a:t>
            </a:r>
            <a:r>
              <a:rPr lang="fr-FR" sz="2800" b="1" dirty="0"/>
              <a:t>Les tentatives d'injection SQL sont </a:t>
            </a:r>
            <a:r>
              <a:rPr lang="fr-FR" sz="2800" b="1" dirty="0" smtClean="0"/>
              <a:t>neutralisées</a:t>
            </a:r>
          </a:p>
          <a:p>
            <a:r>
              <a:rPr lang="fr-FR" sz="2800" b="1" dirty="0" smtClean="0"/>
              <a:t>✅ </a:t>
            </a:r>
            <a:r>
              <a:rPr lang="fr-FR" sz="2800" b="1" dirty="0"/>
              <a:t>Les données sont stockées en toute sécurité dans la base de données</a:t>
            </a:r>
            <a:endParaRPr lang="en-US" sz="3400" b="1" dirty="0" smtClean="0"/>
          </a:p>
        </p:txBody>
      </p:sp>
    </p:spTree>
    <p:extLst>
      <p:ext uri="{BB962C8B-B14F-4D97-AF65-F5344CB8AC3E}">
        <p14:creationId xmlns:p14="http://schemas.microsoft.com/office/powerpoint/2010/main" val="159879292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lnSpcReduction="10000"/>
          </a:bodyPr>
          <a:lstStyle/>
          <a:p>
            <a:r>
              <a:rPr lang="fr-FR" sz="3600" b="1" dirty="0" smtClean="0"/>
              <a:t>Protection </a:t>
            </a:r>
            <a:r>
              <a:rPr lang="fr-FR" sz="3600" b="1" dirty="0"/>
              <a:t>Injection SQL (SQL </a:t>
            </a:r>
            <a:r>
              <a:rPr lang="fr-FR" sz="3600" b="1" dirty="0" err="1"/>
              <a:t>Alchemy</a:t>
            </a:r>
            <a:r>
              <a:rPr lang="fr-FR" sz="3600" b="1" dirty="0"/>
              <a:t> ORM) :</a:t>
            </a:r>
            <a:endParaRPr lang="fr-FR" sz="3600" b="1" dirty="0" smtClean="0"/>
          </a:p>
          <a:p>
            <a:r>
              <a:rPr lang="fr-FR" sz="2800" b="1" dirty="0"/>
              <a:t> </a:t>
            </a:r>
            <a:r>
              <a:rPr lang="fr-FR" sz="2800" dirty="0"/>
              <a:t>Il est important de noter que l'utilisation d'un ORM comme </a:t>
            </a:r>
            <a:r>
              <a:rPr lang="fr-FR" sz="2800" dirty="0" err="1"/>
              <a:t>SQLAlchemy</a:t>
            </a:r>
            <a:r>
              <a:rPr lang="fr-FR" sz="2800" dirty="0"/>
              <a:t> (via vos modèles) protège intrinsèquement contre les injections SQL. </a:t>
            </a:r>
            <a:r>
              <a:rPr lang="fr-FR" sz="2800" dirty="0" err="1"/>
              <a:t>SQLAlchemy</a:t>
            </a:r>
            <a:r>
              <a:rPr lang="fr-FR" sz="2800" dirty="0"/>
              <a:t> crée des requêtes paramétrées, ce qui signifie que les entrées de l'utilisateur sont traitées comme des données et non du code SQL, ainsi que des attaques par injection.</a:t>
            </a:r>
            <a:endParaRPr lang="en-US" sz="2800" dirty="0"/>
          </a:p>
        </p:txBody>
      </p:sp>
    </p:spTree>
    <p:extLst>
      <p:ext uri="{BB962C8B-B14F-4D97-AF65-F5344CB8AC3E}">
        <p14:creationId xmlns:p14="http://schemas.microsoft.com/office/powerpoint/2010/main" val="198064333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fr-FR" sz="3600" b="1" dirty="0"/>
              <a:t>Points Clés du </a:t>
            </a:r>
            <a:r>
              <a:rPr lang="fr-FR" sz="3600" b="1" dirty="0" smtClean="0"/>
              <a:t>Projet</a:t>
            </a:r>
          </a:p>
          <a:p>
            <a:r>
              <a:rPr lang="fr-FR" sz="2800" b="1" dirty="0" smtClean="0"/>
              <a:t>🔒</a:t>
            </a:r>
            <a:r>
              <a:rPr lang="fr-FR" b="1" dirty="0"/>
              <a:t> </a:t>
            </a:r>
            <a:r>
              <a:rPr lang="fr-FR" b="1" dirty="0"/>
              <a:t>Comment ça marche</a:t>
            </a:r>
            <a:endParaRPr lang="fr-FR" b="1" dirty="0"/>
          </a:p>
          <a:p>
            <a:r>
              <a:rPr lang="en-US" b="1" dirty="0"/>
              <a:t>Validation de la </a:t>
            </a:r>
            <a:r>
              <a:rPr lang="en-US" b="1" dirty="0" err="1"/>
              <a:t>demande</a:t>
            </a:r>
            <a:r>
              <a:rPr lang="en-US" b="1" dirty="0"/>
              <a:t> </a:t>
            </a:r>
            <a:r>
              <a:rPr lang="en-US" dirty="0" smtClean="0"/>
              <a:t>:</a:t>
            </a:r>
            <a:endParaRPr lang="en-US" dirty="0"/>
          </a:p>
          <a:p>
            <a:pPr lvl="1"/>
            <a:r>
              <a:rPr lang="fr-FR" dirty="0"/>
              <a:t>Vérifie l'origine des demandes </a:t>
            </a:r>
            <a:r>
              <a:rPr lang="fr-FR" dirty="0" smtClean="0"/>
              <a:t>entrantes</a:t>
            </a:r>
          </a:p>
          <a:p>
            <a:pPr lvl="1"/>
            <a:r>
              <a:rPr lang="fr-FR" dirty="0"/>
              <a:t>Vérifie si la demande provient d'un hôte </a:t>
            </a:r>
            <a:r>
              <a:rPr lang="fr-FR" dirty="0" smtClean="0"/>
              <a:t>autorisé</a:t>
            </a:r>
          </a:p>
          <a:p>
            <a:pPr lvl="1"/>
            <a:r>
              <a:rPr lang="fr-FR" dirty="0"/>
              <a:t>Valide les jetons CSRF dans les </a:t>
            </a:r>
            <a:r>
              <a:rPr lang="fr-FR" dirty="0" smtClean="0"/>
              <a:t>formulaires/demandes</a:t>
            </a:r>
          </a:p>
          <a:p>
            <a:r>
              <a:rPr lang="en-US" b="1" dirty="0" err="1" smtClean="0"/>
              <a:t>Gestion</a:t>
            </a:r>
            <a:r>
              <a:rPr lang="en-US" b="1" dirty="0" smtClean="0"/>
              <a:t> </a:t>
            </a:r>
            <a:r>
              <a:rPr lang="en-US" b="1" dirty="0"/>
              <a:t>des </a:t>
            </a:r>
            <a:r>
              <a:rPr lang="en-US" b="1" dirty="0" err="1"/>
              <a:t>jetons</a:t>
            </a:r>
            <a:r>
              <a:rPr lang="en-US" b="1" dirty="0"/>
              <a:t> </a:t>
            </a:r>
            <a:r>
              <a:rPr lang="en-US" b="1" dirty="0" smtClean="0"/>
              <a:t>:</a:t>
            </a:r>
          </a:p>
          <a:p>
            <a:pPr lvl="1"/>
            <a:r>
              <a:rPr lang="fr-FR" dirty="0"/>
              <a:t>Fonctionne avec </a:t>
            </a:r>
            <a:r>
              <a:rPr lang="fr-FR" dirty="0" err="1"/>
              <a:t>SessionMiddleware</a:t>
            </a:r>
            <a:r>
              <a:rPr lang="fr-FR" dirty="0"/>
              <a:t> pour stocker et valider les </a:t>
            </a:r>
            <a:r>
              <a:rPr lang="fr-FR" dirty="0" smtClean="0"/>
              <a:t>jetons</a:t>
            </a:r>
          </a:p>
          <a:p>
            <a:pPr lvl="1"/>
            <a:r>
              <a:rPr lang="fr-FR" dirty="0"/>
              <a:t>Ajoute automatiquement une protection CSRF aux requêtes non-GET</a:t>
            </a:r>
            <a:endParaRPr lang="fr-FR" sz="3000" dirty="0"/>
          </a:p>
        </p:txBody>
      </p:sp>
    </p:spTree>
    <p:extLst>
      <p:ext uri="{BB962C8B-B14F-4D97-AF65-F5344CB8AC3E}">
        <p14:creationId xmlns:p14="http://schemas.microsoft.com/office/powerpoint/2010/main" val="250274542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fontScale="92500" lnSpcReduction="10000"/>
          </a:bodyPr>
          <a:lstStyle/>
          <a:p>
            <a:r>
              <a:rPr lang="fr-FR" sz="3600" b="1" dirty="0"/>
              <a:t>Points Clés du </a:t>
            </a:r>
            <a:r>
              <a:rPr lang="fr-FR" sz="3600" b="1" dirty="0" smtClean="0"/>
              <a:t>Projet</a:t>
            </a:r>
          </a:p>
          <a:p>
            <a:r>
              <a:rPr lang="fr-FR" sz="3300" b="1" dirty="0" smtClean="0"/>
              <a:t>Flexible</a:t>
            </a:r>
            <a:r>
              <a:rPr lang="fr-FR" sz="3000" dirty="0"/>
              <a:t>: Gestion complète des clients, produits et factures</a:t>
            </a:r>
          </a:p>
          <a:p>
            <a:r>
              <a:rPr lang="fr-FR" sz="3000" dirty="0"/>
              <a:t>💰 </a:t>
            </a:r>
            <a:r>
              <a:rPr lang="fr-FR" sz="3300" b="1" dirty="0"/>
              <a:t>Calculs Automatiques</a:t>
            </a:r>
            <a:r>
              <a:rPr lang="fr-FR" sz="3000" dirty="0"/>
              <a:t>: TVA (20%), montants HT et TTC</a:t>
            </a:r>
          </a:p>
          <a:p>
            <a:r>
              <a:rPr lang="fr-FR" sz="3000" dirty="0"/>
              <a:t>📄 </a:t>
            </a:r>
            <a:r>
              <a:rPr lang="fr-FR" sz="3400" b="1" dirty="0"/>
              <a:t>Export PDF: </a:t>
            </a:r>
            <a:r>
              <a:rPr lang="fr-FR" sz="3000" dirty="0"/>
              <a:t>Génération de factures professionnelles personnalisables</a:t>
            </a:r>
          </a:p>
          <a:p>
            <a:r>
              <a:rPr lang="fr-FR" sz="3000" dirty="0"/>
              <a:t>🎨 </a:t>
            </a:r>
            <a:r>
              <a:rPr lang="fr-FR" sz="3400" b="1" dirty="0"/>
              <a:t>Design Responsive</a:t>
            </a:r>
            <a:r>
              <a:rPr lang="fr-FR" sz="3000" dirty="0"/>
              <a:t>: Interface moderne et adaptative</a:t>
            </a:r>
          </a:p>
        </p:txBody>
      </p:sp>
    </p:spTree>
    <p:extLst>
      <p:ext uri="{BB962C8B-B14F-4D97-AF65-F5344CB8AC3E}">
        <p14:creationId xmlns:p14="http://schemas.microsoft.com/office/powerpoint/2010/main" val="156590274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fr-FR" sz="3600" b="1" dirty="0"/>
              <a:t>Caractéristiques </a:t>
            </a:r>
            <a:r>
              <a:rPr lang="fr-FR" sz="3600" b="1" dirty="0" smtClean="0"/>
              <a:t>Techniques</a:t>
            </a:r>
          </a:p>
          <a:p>
            <a:r>
              <a:rPr lang="fr-FR" sz="2800" b="1" dirty="0" err="1"/>
              <a:t>Backend</a:t>
            </a:r>
            <a:r>
              <a:rPr lang="fr-FR" dirty="0"/>
              <a:t>: </a:t>
            </a:r>
            <a:r>
              <a:rPr lang="fr-FR" dirty="0" err="1"/>
              <a:t>FastAPI</a:t>
            </a:r>
            <a:r>
              <a:rPr lang="fr-FR" dirty="0"/>
              <a:t> (Python</a:t>
            </a:r>
            <a:r>
              <a:rPr lang="fr-FR" dirty="0" smtClean="0"/>
              <a:t>)</a:t>
            </a:r>
          </a:p>
          <a:p>
            <a:pPr lvl="1"/>
            <a:r>
              <a:rPr lang="fr-FR" dirty="0"/>
              <a:t>Pourquoi </a:t>
            </a:r>
            <a:r>
              <a:rPr lang="fr-FR" dirty="0" err="1"/>
              <a:t>FastAPI</a:t>
            </a:r>
            <a:r>
              <a:rPr lang="fr-FR" dirty="0"/>
              <a:t> ? Pour sa haute performance (asynchrone), sa facilité de développement (typage), sa documentation automatique (</a:t>
            </a:r>
            <a:r>
              <a:rPr lang="fr-FR" dirty="0" err="1"/>
              <a:t>Swagger</a:t>
            </a:r>
            <a:r>
              <a:rPr lang="fr-FR" dirty="0"/>
              <a:t> UI/</a:t>
            </a:r>
            <a:r>
              <a:rPr lang="fr-FR" dirty="0" err="1"/>
              <a:t>OpenAPI</a:t>
            </a:r>
            <a:r>
              <a:rPr lang="fr-FR" dirty="0"/>
              <a:t>) et son écosystème Python robuste, idéal pour des APIs rapides et maintenables</a:t>
            </a:r>
          </a:p>
          <a:p>
            <a:r>
              <a:rPr lang="fr-FR" sz="2800" b="1" dirty="0"/>
              <a:t>Base de données: </a:t>
            </a:r>
            <a:r>
              <a:rPr lang="fr-FR" dirty="0" smtClean="0"/>
              <a:t>SQL </a:t>
            </a:r>
            <a:r>
              <a:rPr lang="fr-FR" dirty="0" err="1" smtClean="0"/>
              <a:t>Alchemy</a:t>
            </a:r>
            <a:r>
              <a:rPr lang="fr-FR" dirty="0" smtClean="0"/>
              <a:t>, PostgreSQL</a:t>
            </a:r>
          </a:p>
          <a:p>
            <a:pPr lvl="1"/>
            <a:r>
              <a:rPr lang="fr-FR" dirty="0"/>
              <a:t>Pourquoi </a:t>
            </a:r>
            <a:r>
              <a:rPr lang="fr-FR" dirty="0" err="1"/>
              <a:t>SQLAlchemy</a:t>
            </a:r>
            <a:r>
              <a:rPr lang="fr-FR" dirty="0"/>
              <a:t> </a:t>
            </a:r>
            <a:r>
              <a:rPr lang="fr-FR" dirty="0" smtClean="0"/>
              <a:t>? </a:t>
            </a:r>
            <a:r>
              <a:rPr lang="fr-FR" dirty="0"/>
              <a:t>Pour son ORM puissant et flexible, facilitant l'interaction avec la base de données et permettant de basculer facilement entre différents SGBD si nécessaire</a:t>
            </a:r>
            <a:r>
              <a:rPr lang="fr-FR" dirty="0" smtClean="0"/>
              <a:t>.</a:t>
            </a:r>
            <a:endParaRPr lang="fr-FR" dirty="0"/>
          </a:p>
        </p:txBody>
      </p:sp>
    </p:spTree>
    <p:extLst>
      <p:ext uri="{BB962C8B-B14F-4D97-AF65-F5344CB8AC3E}">
        <p14:creationId xmlns:p14="http://schemas.microsoft.com/office/powerpoint/2010/main" val="65684337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fr-FR" sz="3600" b="1" dirty="0"/>
              <a:t>Caractéristiques </a:t>
            </a:r>
            <a:r>
              <a:rPr lang="fr-FR" sz="3600" b="1" dirty="0" smtClean="0"/>
              <a:t>Techniques</a:t>
            </a:r>
          </a:p>
          <a:p>
            <a:r>
              <a:rPr lang="fr-FR" sz="2800" b="1" dirty="0" smtClean="0"/>
              <a:t>Génération PDF: </a:t>
            </a:r>
            <a:r>
              <a:rPr lang="fr-FR" b="1" dirty="0" err="1" smtClean="0"/>
              <a:t>WeasyPrint</a:t>
            </a:r>
            <a:endParaRPr lang="fr-FR" b="1" dirty="0" smtClean="0"/>
          </a:p>
          <a:p>
            <a:pPr lvl="1"/>
            <a:r>
              <a:rPr lang="fr-FR" sz="2000" dirty="0" smtClean="0"/>
              <a:t>Pourquoi </a:t>
            </a:r>
            <a:r>
              <a:rPr lang="fr-FR" sz="2000" dirty="0" err="1"/>
              <a:t>WeasyPrint</a:t>
            </a:r>
            <a:r>
              <a:rPr lang="fr-FR" sz="2000" dirty="0"/>
              <a:t> ? Pour sa capacité à transformer du HTML/CSS en PDF de haute qualité, offrant une grande flexibilité de personnalisation des </a:t>
            </a:r>
            <a:r>
              <a:rPr lang="fr-FR" sz="2000" dirty="0" err="1"/>
              <a:t>templates</a:t>
            </a:r>
            <a:r>
              <a:rPr lang="fr-FR" sz="2000" dirty="0"/>
              <a:t> sans avoir à gérer des bibliothèques PDF complexes</a:t>
            </a:r>
            <a:endParaRPr lang="fr-FR" sz="2000" dirty="0" smtClean="0"/>
          </a:p>
          <a:p>
            <a:r>
              <a:rPr lang="fr-FR" sz="2800" b="1" dirty="0" err="1" smtClean="0"/>
              <a:t>Templates</a:t>
            </a:r>
            <a:r>
              <a:rPr lang="fr-FR" sz="2800" b="1" dirty="0"/>
              <a:t>: </a:t>
            </a:r>
            <a:r>
              <a:rPr lang="fr-FR" b="1" dirty="0" smtClean="0"/>
              <a:t>Jinja2</a:t>
            </a:r>
          </a:p>
          <a:p>
            <a:pPr lvl="1"/>
            <a:r>
              <a:rPr lang="fr-FR" sz="2000" b="1" dirty="0"/>
              <a:t>Jinja2</a:t>
            </a:r>
            <a:r>
              <a:rPr lang="fr-FR" sz="2000" dirty="0"/>
              <a:t> est un moteur de </a:t>
            </a:r>
            <a:r>
              <a:rPr lang="fr-FR" sz="2000" dirty="0" err="1"/>
              <a:t>templating</a:t>
            </a:r>
            <a:r>
              <a:rPr lang="fr-FR" sz="2000" dirty="0"/>
              <a:t> côté serveur, souvent utilisé avec des </a:t>
            </a:r>
            <a:r>
              <a:rPr lang="fr-FR" sz="2000" dirty="0" err="1"/>
              <a:t>frameworks</a:t>
            </a:r>
            <a:r>
              <a:rPr lang="fr-FR" sz="2000" dirty="0"/>
              <a:t> Python comme </a:t>
            </a:r>
            <a:r>
              <a:rPr lang="fr-FR" sz="2000" dirty="0" err="1"/>
              <a:t>Flask</a:t>
            </a:r>
            <a:r>
              <a:rPr lang="fr-FR" sz="2000" dirty="0"/>
              <a:t> ou </a:t>
            </a:r>
            <a:r>
              <a:rPr lang="fr-FR" sz="2000" dirty="0" err="1"/>
              <a:t>FastAPI</a:t>
            </a:r>
            <a:r>
              <a:rPr lang="fr-FR" sz="2000" dirty="0"/>
              <a:t> (quand on veut générer du HTML côté </a:t>
            </a:r>
            <a:r>
              <a:rPr lang="fr-FR" sz="2000" dirty="0" smtClean="0"/>
              <a:t>serveur</a:t>
            </a:r>
            <a:endParaRPr lang="fr-FR" sz="2000" dirty="0"/>
          </a:p>
        </p:txBody>
      </p:sp>
    </p:spTree>
    <p:extLst>
      <p:ext uri="{BB962C8B-B14F-4D97-AF65-F5344CB8AC3E}">
        <p14:creationId xmlns:p14="http://schemas.microsoft.com/office/powerpoint/2010/main" val="17789678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fr-FR" sz="3600" b="1" dirty="0"/>
              <a:t>Caractéristiques </a:t>
            </a:r>
            <a:r>
              <a:rPr lang="fr-FR" sz="3600" b="1" dirty="0" smtClean="0"/>
              <a:t>Techniques</a:t>
            </a:r>
          </a:p>
          <a:p>
            <a:r>
              <a:rPr lang="fr-FR" sz="2800" b="1" dirty="0" smtClean="0"/>
              <a:t>Styles</a:t>
            </a:r>
            <a:r>
              <a:rPr lang="fr-FR" sz="2800" b="1" dirty="0"/>
              <a:t>: </a:t>
            </a:r>
            <a:r>
              <a:rPr lang="fr-FR" dirty="0"/>
              <a:t>CSS personnalisé</a:t>
            </a:r>
          </a:p>
        </p:txBody>
      </p:sp>
    </p:spTree>
    <p:extLst>
      <p:ext uri="{BB962C8B-B14F-4D97-AF65-F5344CB8AC3E}">
        <p14:creationId xmlns:p14="http://schemas.microsoft.com/office/powerpoint/2010/main" val="6659755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fr-FR" sz="3600" b="1" dirty="0"/>
              <a:t>Cette application est particulièrement adaptée aux :</a:t>
            </a:r>
            <a:endParaRPr lang="fr-FR" sz="3600" b="1" dirty="0" smtClean="0"/>
          </a:p>
          <a:p>
            <a:r>
              <a:rPr lang="fr-FR" sz="2000" b="1" dirty="0" smtClean="0"/>
              <a:t>PME(</a:t>
            </a:r>
            <a:r>
              <a:rPr lang="fr-FR" sz="2000" b="1" dirty="0"/>
              <a:t>Petite ou moyenne) et entrepreneurs</a:t>
            </a:r>
          </a:p>
          <a:p>
            <a:r>
              <a:rPr lang="fr-FR" sz="2000" b="1" dirty="0"/>
              <a:t>Freelances</a:t>
            </a:r>
          </a:p>
          <a:p>
            <a:r>
              <a:rPr lang="fr-FR" sz="2000" b="1" dirty="0"/>
              <a:t>Sociétés de services</a:t>
            </a:r>
          </a:p>
          <a:p>
            <a:r>
              <a:rPr lang="fr-FR" sz="2000" b="1" dirty="0"/>
              <a:t>Professionnels indépendants</a:t>
            </a:r>
          </a:p>
        </p:txBody>
      </p:sp>
    </p:spTree>
    <p:extLst>
      <p:ext uri="{BB962C8B-B14F-4D97-AF65-F5344CB8AC3E}">
        <p14:creationId xmlns:p14="http://schemas.microsoft.com/office/powerpoint/2010/main" val="257066621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en-US" sz="3600" b="1" dirty="0" err="1" smtClean="0"/>
              <a:t>Aperçu</a:t>
            </a:r>
            <a:r>
              <a:rPr lang="en-US" sz="3600" b="1" dirty="0" smtClean="0"/>
              <a:t> </a:t>
            </a:r>
            <a:r>
              <a:rPr lang="en-US" sz="3600" b="1" dirty="0"/>
              <a:t>du </a:t>
            </a:r>
            <a:r>
              <a:rPr lang="en-US" sz="3600" b="1" dirty="0" err="1" smtClean="0"/>
              <a:t>Projet</a:t>
            </a:r>
            <a:endParaRPr lang="en-US" sz="3600" b="1" dirty="0" smtClean="0"/>
          </a:p>
          <a:p>
            <a:r>
              <a:rPr lang="fr-FR" b="1" dirty="0" smtClean="0"/>
              <a:t>Nom </a:t>
            </a:r>
            <a:r>
              <a:rPr lang="fr-FR" b="1" dirty="0"/>
              <a:t>du Projet</a:t>
            </a:r>
            <a:r>
              <a:rPr lang="fr-FR" dirty="0" smtClean="0"/>
              <a:t>: </a:t>
            </a:r>
            <a:r>
              <a:rPr lang="fr-FR" dirty="0"/>
              <a:t>Facturation (Système de Génération de Factures )</a:t>
            </a:r>
          </a:p>
          <a:p>
            <a:r>
              <a:rPr lang="fr-FR" b="1" dirty="0" smtClean="0"/>
              <a:t>Technologies </a:t>
            </a:r>
            <a:r>
              <a:rPr lang="fr-FR" b="1" dirty="0"/>
              <a:t>Utilisées</a:t>
            </a:r>
            <a:r>
              <a:rPr lang="fr-FR" dirty="0" smtClean="0"/>
              <a:t>: </a:t>
            </a:r>
            <a:r>
              <a:rPr lang="fr-FR" dirty="0"/>
              <a:t>Python, </a:t>
            </a:r>
            <a:r>
              <a:rPr lang="fr-FR" dirty="0" err="1"/>
              <a:t>FastAPI</a:t>
            </a:r>
            <a:r>
              <a:rPr lang="fr-FR" dirty="0"/>
              <a:t>, </a:t>
            </a:r>
            <a:r>
              <a:rPr lang="fr-FR" dirty="0" err="1"/>
              <a:t>SQLAlchemy</a:t>
            </a:r>
            <a:r>
              <a:rPr lang="fr-FR" dirty="0"/>
              <a:t>, </a:t>
            </a:r>
            <a:r>
              <a:rPr lang="fr-FR" dirty="0" err="1"/>
              <a:t>WeasyPrint</a:t>
            </a:r>
            <a:endParaRPr lang="fr-FR" dirty="0"/>
          </a:p>
          <a:p>
            <a:r>
              <a:rPr lang="fr-FR" b="1" dirty="0" smtClean="0"/>
              <a:t>Objectif</a:t>
            </a:r>
            <a:r>
              <a:rPr lang="fr-FR" dirty="0"/>
              <a:t>: Simplifier la gestion complexe et chronophage des factures, réduire les erreurs manuelles, offrir une solution professionnelle </a:t>
            </a:r>
            <a:r>
              <a:rPr lang="fr-FR" dirty="0" smtClean="0"/>
              <a:t>accessible</a:t>
            </a:r>
            <a:endParaRPr lang="fr-FR" dirty="0"/>
          </a:p>
          <a:p>
            <a:r>
              <a:rPr lang="fr-FR" b="1" dirty="0"/>
              <a:t>Public </a:t>
            </a:r>
            <a:r>
              <a:rPr lang="fr-FR" b="1" dirty="0" smtClean="0"/>
              <a:t>Cible: </a:t>
            </a:r>
            <a:r>
              <a:rPr lang="fr-FR" dirty="0"/>
              <a:t>Les PME et entrepreneurs bénéficient d'un gain de temps et d'une image professionnelle, les freelances apprécient la simplicité et l'automatisation des </a:t>
            </a:r>
            <a:r>
              <a:rPr lang="fr-FR" dirty="0" smtClean="0"/>
              <a:t>calculs.</a:t>
            </a:r>
            <a:endParaRPr lang="fr-FR" b="1" dirty="0"/>
          </a:p>
        </p:txBody>
      </p:sp>
    </p:spTree>
    <p:extLst>
      <p:ext uri="{BB962C8B-B14F-4D97-AF65-F5344CB8AC3E}">
        <p14:creationId xmlns:p14="http://schemas.microsoft.com/office/powerpoint/2010/main" val="82796516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lnSpcReduction="10000"/>
          </a:bodyPr>
          <a:lstStyle/>
          <a:p>
            <a:r>
              <a:rPr lang="en-US" sz="3600" b="1" dirty="0" err="1" smtClean="0"/>
              <a:t>Fonctionnalités</a:t>
            </a:r>
            <a:r>
              <a:rPr lang="en-US" sz="3600" b="1" dirty="0" smtClean="0"/>
              <a:t> </a:t>
            </a:r>
            <a:r>
              <a:rPr lang="en-US" sz="3600" b="1" dirty="0" err="1"/>
              <a:t>Principales</a:t>
            </a:r>
            <a:endParaRPr lang="en-US" sz="3600" b="1" dirty="0" smtClean="0"/>
          </a:p>
          <a:p>
            <a:r>
              <a:rPr lang="fr-FR" b="1" dirty="0" smtClean="0"/>
              <a:t>Gestion </a:t>
            </a:r>
            <a:r>
              <a:rPr lang="fr-FR" b="1" dirty="0"/>
              <a:t>des Factures</a:t>
            </a:r>
            <a:r>
              <a:rPr lang="fr-FR" b="1" dirty="0" smtClean="0"/>
              <a:t> </a:t>
            </a:r>
            <a:r>
              <a:rPr lang="fr-FR" dirty="0" smtClean="0"/>
              <a:t>:</a:t>
            </a:r>
          </a:p>
          <a:p>
            <a:pPr lvl="1"/>
            <a:r>
              <a:rPr lang="fr-FR" dirty="0" smtClean="0"/>
              <a:t>Non </a:t>
            </a:r>
            <a:r>
              <a:rPr lang="fr-FR" dirty="0"/>
              <a:t>seulement elle permet la création et la gestion, mais elle assure également la conformité légale et offre une vue d'ensemble claire des transactions financières</a:t>
            </a:r>
          </a:p>
          <a:p>
            <a:pPr lvl="1"/>
            <a:r>
              <a:rPr lang="fr-FR" dirty="0" smtClean="0"/>
              <a:t>Stockage des informations clients et entreprises</a:t>
            </a:r>
            <a:endParaRPr lang="en-US" dirty="0" smtClean="0"/>
          </a:p>
          <a:p>
            <a:pPr lvl="1"/>
            <a:r>
              <a:rPr lang="fr-FR" dirty="0" smtClean="0"/>
              <a:t>Calcul </a:t>
            </a:r>
            <a:r>
              <a:rPr lang="fr-FR" dirty="0"/>
              <a:t>automatique des totaux (HT, TVA, TTC)</a:t>
            </a:r>
            <a:endParaRPr lang="fr-FR" dirty="0" smtClean="0"/>
          </a:p>
          <a:p>
            <a:r>
              <a:rPr lang="fr-FR" b="1" dirty="0"/>
              <a:t>Génération </a:t>
            </a:r>
            <a:r>
              <a:rPr lang="fr-FR" b="1" dirty="0" smtClean="0"/>
              <a:t>PDF</a:t>
            </a:r>
          </a:p>
          <a:p>
            <a:pPr lvl="1"/>
            <a:r>
              <a:rPr lang="fr-FR" dirty="0"/>
              <a:t>L'export PDF n'est pas qu'un simple fichier ; il garantit un document professionnel, personnalisable à l'image de l'entreprise (logo, couleurs) et respectueux des standards comptables, éliminant le besoin d'outils tiers</a:t>
            </a:r>
          </a:p>
          <a:p>
            <a:pPr lvl="1"/>
            <a:r>
              <a:rPr lang="fr-FR" dirty="0" smtClean="0"/>
              <a:t>Personnalisation </a:t>
            </a:r>
            <a:r>
              <a:rPr lang="fr-FR" dirty="0"/>
              <a:t>du style avec CSS</a:t>
            </a:r>
          </a:p>
          <a:p>
            <a:pPr lvl="1"/>
            <a:r>
              <a:rPr lang="fr-FR" dirty="0"/>
              <a:t>Rendu dynamique des </a:t>
            </a:r>
            <a:r>
              <a:rPr lang="fr-FR" dirty="0" err="1" smtClean="0"/>
              <a:t>templates</a:t>
            </a:r>
            <a:endParaRPr lang="fr-FR" dirty="0"/>
          </a:p>
          <a:p>
            <a:pPr marL="0" indent="0">
              <a:buNone/>
            </a:pPr>
            <a:endParaRPr lang="fr-FR" b="1" dirty="0" smtClean="0"/>
          </a:p>
        </p:txBody>
      </p:sp>
    </p:spTree>
    <p:extLst>
      <p:ext uri="{BB962C8B-B14F-4D97-AF65-F5344CB8AC3E}">
        <p14:creationId xmlns:p14="http://schemas.microsoft.com/office/powerpoint/2010/main" val="407129288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en-US" sz="3600" b="1" dirty="0" err="1" smtClean="0"/>
              <a:t>Fonctionnalités</a:t>
            </a:r>
            <a:r>
              <a:rPr lang="en-US" sz="3600" b="1" dirty="0" smtClean="0"/>
              <a:t> </a:t>
            </a:r>
            <a:r>
              <a:rPr lang="en-US" sz="3600" b="1" dirty="0" err="1"/>
              <a:t>Principales</a:t>
            </a:r>
            <a:endParaRPr lang="en-US" sz="3600" b="1" dirty="0" smtClean="0"/>
          </a:p>
          <a:p>
            <a:r>
              <a:rPr lang="fr-FR" b="1" dirty="0" smtClean="0"/>
              <a:t>Profils </a:t>
            </a:r>
            <a:r>
              <a:rPr lang="fr-FR" b="1" dirty="0"/>
              <a:t>d'Entreprise</a:t>
            </a:r>
            <a:r>
              <a:rPr lang="fr-FR" dirty="0" smtClean="0"/>
              <a:t>:</a:t>
            </a:r>
          </a:p>
          <a:p>
            <a:pPr lvl="1"/>
            <a:r>
              <a:rPr lang="fr-FR" dirty="0" smtClean="0"/>
              <a:t> </a:t>
            </a:r>
            <a:r>
              <a:rPr lang="fr-FR" dirty="0"/>
              <a:t>Permet à chaque utilisateur de configurer son entité, garantissant que toutes les factures émises sont conformes à son identité de marque et à ses obligations légales sans intervention manuelle répétitive</a:t>
            </a:r>
          </a:p>
          <a:p>
            <a:pPr lvl="1"/>
            <a:r>
              <a:rPr lang="fr-FR" dirty="0" smtClean="0"/>
              <a:t>Options de personnalisation de la marque</a:t>
            </a:r>
          </a:p>
          <a:p>
            <a:pPr lvl="1"/>
            <a:r>
              <a:rPr lang="fr-FR" dirty="0"/>
              <a:t>Gestion des détails </a:t>
            </a:r>
            <a:r>
              <a:rPr lang="fr-FR" dirty="0" smtClean="0"/>
              <a:t>commerciaux</a:t>
            </a:r>
          </a:p>
          <a:p>
            <a:pPr marL="0" indent="0">
              <a:buNone/>
            </a:pPr>
            <a:endParaRPr lang="fr-FR" b="1" dirty="0" smtClean="0"/>
          </a:p>
        </p:txBody>
      </p:sp>
    </p:spTree>
    <p:extLst>
      <p:ext uri="{BB962C8B-B14F-4D97-AF65-F5344CB8AC3E}">
        <p14:creationId xmlns:p14="http://schemas.microsoft.com/office/powerpoint/2010/main" val="149783389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en-US" sz="3600" b="1" dirty="0"/>
              <a:t>Techniques </a:t>
            </a:r>
            <a:r>
              <a:rPr lang="en-US" sz="3600" b="1" dirty="0" err="1" smtClean="0"/>
              <a:t>architecturales</a:t>
            </a:r>
            <a:endParaRPr lang="en-US" sz="3600" b="1" dirty="0" smtClean="0"/>
          </a:p>
          <a:p>
            <a:r>
              <a:rPr lang="fr-FR" b="1" dirty="0" smtClean="0"/>
              <a:t>Composants </a:t>
            </a:r>
            <a:r>
              <a:rPr lang="fr-FR" b="1" dirty="0" smtClean="0"/>
              <a:t>Principaux</a:t>
            </a:r>
            <a:endParaRPr lang="fr-FR" dirty="0" smtClean="0"/>
          </a:p>
          <a:p>
            <a:pPr marL="0" indent="0">
              <a:buNone/>
            </a:pPr>
            <a:r>
              <a:rPr lang="fr-FR" b="1" dirty="0"/>
              <a:t>graph TD</a:t>
            </a:r>
          </a:p>
          <a:p>
            <a:pPr marL="0" indent="0">
              <a:buNone/>
            </a:pPr>
            <a:r>
              <a:rPr lang="fr-FR" b="1" dirty="0"/>
              <a:t>    A[Routeur </a:t>
            </a:r>
            <a:r>
              <a:rPr lang="fr-FR" b="1" dirty="0" err="1"/>
              <a:t>FastAPI</a:t>
            </a:r>
            <a:r>
              <a:rPr lang="fr-FR" b="1" dirty="0"/>
              <a:t>] --&gt; B[Moteur de Template]</a:t>
            </a:r>
          </a:p>
          <a:p>
            <a:pPr marL="0" indent="0">
              <a:buNone/>
            </a:pPr>
            <a:r>
              <a:rPr lang="fr-FR" b="1" dirty="0"/>
              <a:t>    A --&gt; C[Couche Base de Données]</a:t>
            </a:r>
          </a:p>
          <a:p>
            <a:pPr marL="0" indent="0">
              <a:buNone/>
            </a:pPr>
            <a:r>
              <a:rPr lang="fr-FR" b="1" dirty="0"/>
              <a:t>    B --&gt; D[Générateur PDF]</a:t>
            </a:r>
          </a:p>
          <a:p>
            <a:pPr marL="0" indent="0">
              <a:buNone/>
            </a:pPr>
            <a:r>
              <a:rPr lang="fr-FR" b="1" dirty="0"/>
              <a:t>    C --&gt; E[Modèles </a:t>
            </a:r>
            <a:r>
              <a:rPr lang="fr-FR" b="1" dirty="0" err="1"/>
              <a:t>SQLAlchemy</a:t>
            </a:r>
            <a:r>
              <a:rPr lang="fr-FR" b="1" dirty="0"/>
              <a:t>]</a:t>
            </a:r>
            <a:endParaRPr lang="fr-FR" b="1" dirty="0" smtClean="0"/>
          </a:p>
        </p:txBody>
      </p:sp>
    </p:spTree>
    <p:extLst>
      <p:ext uri="{BB962C8B-B14F-4D97-AF65-F5344CB8AC3E}">
        <p14:creationId xmlns:p14="http://schemas.microsoft.com/office/powerpoint/2010/main" val="337147983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en-US" sz="3600" b="1" dirty="0" smtClean="0"/>
              <a:t>APIs </a:t>
            </a:r>
            <a:r>
              <a:rPr lang="en-US" sz="3600" b="1" dirty="0" err="1"/>
              <a:t>Principales</a:t>
            </a:r>
            <a:endParaRPr lang="en-US" sz="3600" b="1" dirty="0" smtClean="0"/>
          </a:p>
          <a:p>
            <a:r>
              <a:rPr lang="fr-FR" dirty="0"/>
              <a:t>GET /report/</a:t>
            </a:r>
            <a:r>
              <a:rPr lang="fr-FR" dirty="0" err="1"/>
              <a:t>invoiceNumber</a:t>
            </a:r>
            <a:r>
              <a:rPr lang="fr-FR" dirty="0"/>
              <a:t>/{</a:t>
            </a:r>
            <a:r>
              <a:rPr lang="fr-FR" dirty="0" err="1"/>
              <a:t>invoice_id</a:t>
            </a:r>
            <a:r>
              <a:rPr lang="fr-FR" dirty="0"/>
              <a:t>}: Générer formulaire de facture</a:t>
            </a:r>
          </a:p>
          <a:p>
            <a:r>
              <a:rPr lang="fr-FR" dirty="0"/>
              <a:t>GET /report/</a:t>
            </a:r>
            <a:r>
              <a:rPr lang="fr-FR" dirty="0" err="1"/>
              <a:t>pdf</a:t>
            </a:r>
            <a:r>
              <a:rPr lang="fr-FR" dirty="0"/>
              <a:t>/{</a:t>
            </a:r>
            <a:r>
              <a:rPr lang="fr-FR" dirty="0" err="1"/>
              <a:t>invoice_id</a:t>
            </a:r>
            <a:r>
              <a:rPr lang="fr-FR" dirty="0"/>
              <a:t>}: Générer facture </a:t>
            </a:r>
            <a:r>
              <a:rPr lang="fr-FR" dirty="0" smtClean="0"/>
              <a:t>PDF</a:t>
            </a:r>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72581958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en-US" sz="3600" b="1" dirty="0" err="1" smtClean="0"/>
              <a:t>Modèles</a:t>
            </a:r>
            <a:r>
              <a:rPr lang="en-US" sz="3600" b="1" dirty="0" smtClean="0"/>
              <a:t> </a:t>
            </a:r>
            <a:r>
              <a:rPr lang="en-US" sz="3600" b="1" dirty="0"/>
              <a:t>de </a:t>
            </a:r>
            <a:r>
              <a:rPr lang="en-US" sz="3600" b="1" dirty="0" err="1"/>
              <a:t>Données</a:t>
            </a:r>
            <a:endParaRPr lang="en-US" sz="3600" b="1" dirty="0"/>
          </a:p>
          <a:p>
            <a:r>
              <a:rPr lang="fr-FR" dirty="0" smtClean="0"/>
              <a:t>Clients </a:t>
            </a:r>
            <a:r>
              <a:rPr lang="fr-FR" dirty="0" smtClean="0">
                <a:sym typeface="Wingdings" panose="05000000000000000000" pitchFamily="2" charset="2"/>
              </a:rPr>
              <a:t>: </a:t>
            </a:r>
            <a:endParaRPr lang="fr-FR" dirty="0" smtClean="0"/>
          </a:p>
          <a:p>
            <a:r>
              <a:rPr lang="fr-FR" dirty="0" smtClean="0"/>
              <a:t>Entreprise</a:t>
            </a:r>
            <a:endParaRPr lang="fr-FR" dirty="0"/>
          </a:p>
          <a:p>
            <a:r>
              <a:rPr lang="fr-FR" dirty="0" err="1" smtClean="0"/>
              <a:t>Invoice</a:t>
            </a:r>
            <a:endParaRPr lang="fr-FR" dirty="0"/>
          </a:p>
          <a:p>
            <a:r>
              <a:rPr lang="fr-FR" dirty="0" err="1" smtClean="0"/>
              <a:t>InvoiceItem</a:t>
            </a:r>
            <a:endParaRPr lang="fr-FR" dirty="0"/>
          </a:p>
          <a:p>
            <a:r>
              <a:rPr lang="fr-FR" dirty="0" err="1"/>
              <a:t>ProductModel</a:t>
            </a:r>
            <a:endParaRPr lang="fr-FR" dirty="0"/>
          </a:p>
          <a:p>
            <a:pPr marL="0" indent="0">
              <a:buNone/>
            </a:pPr>
            <a:endParaRPr lang="fr-FR" dirty="0"/>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54612239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fontScale="77500" lnSpcReduction="20000"/>
          </a:bodyPr>
          <a:lstStyle/>
          <a:p>
            <a:r>
              <a:rPr lang="en-US" sz="3600" b="1" dirty="0" smtClean="0"/>
              <a:t>Points </a:t>
            </a:r>
            <a:r>
              <a:rPr lang="en-US" sz="3600" b="1" dirty="0"/>
              <a:t>Forts de </a:t>
            </a:r>
            <a:r>
              <a:rPr lang="en-US" sz="3600" b="1" dirty="0" err="1" smtClean="0"/>
              <a:t>l'Implémentation</a:t>
            </a:r>
            <a:endParaRPr lang="en-US" sz="3600" b="1" dirty="0" smtClean="0"/>
          </a:p>
          <a:p>
            <a:r>
              <a:rPr lang="fr-FR" dirty="0"/>
              <a:t># to </a:t>
            </a:r>
            <a:r>
              <a:rPr lang="fr-FR" dirty="0" err="1"/>
              <a:t>genraet</a:t>
            </a:r>
            <a:r>
              <a:rPr lang="fr-FR" dirty="0"/>
              <a:t> PDF</a:t>
            </a:r>
          </a:p>
          <a:p>
            <a:r>
              <a:rPr lang="fr-FR" dirty="0"/>
              <a:t>@</a:t>
            </a:r>
            <a:r>
              <a:rPr lang="fr-FR" dirty="0" err="1"/>
              <a:t>report_router.get</a:t>
            </a:r>
            <a:r>
              <a:rPr lang="fr-FR" dirty="0"/>
              <a:t>("/</a:t>
            </a:r>
            <a:r>
              <a:rPr lang="fr-FR" dirty="0" err="1"/>
              <a:t>pdf</a:t>
            </a:r>
            <a:r>
              <a:rPr lang="fr-FR" dirty="0"/>
              <a:t>/{</a:t>
            </a:r>
            <a:r>
              <a:rPr lang="fr-FR" dirty="0" err="1"/>
              <a:t>invoice_id</a:t>
            </a:r>
            <a:r>
              <a:rPr lang="fr-FR" dirty="0"/>
              <a:t>}")</a:t>
            </a:r>
          </a:p>
          <a:p>
            <a:r>
              <a:rPr lang="fr-FR" dirty="0" err="1"/>
              <a:t>async</a:t>
            </a:r>
            <a:r>
              <a:rPr lang="fr-FR" dirty="0"/>
              <a:t> </a:t>
            </a:r>
            <a:r>
              <a:rPr lang="fr-FR" dirty="0" err="1"/>
              <a:t>def</a:t>
            </a:r>
            <a:r>
              <a:rPr lang="fr-FR" dirty="0"/>
              <a:t> </a:t>
            </a:r>
            <a:r>
              <a:rPr lang="fr-FR" dirty="0" err="1"/>
              <a:t>generate_pdf</a:t>
            </a:r>
            <a:r>
              <a:rPr lang="fr-FR" dirty="0" smtClean="0"/>
              <a:t>(</a:t>
            </a:r>
            <a:r>
              <a:rPr lang="fr-FR" dirty="0"/>
              <a:t>    </a:t>
            </a:r>
            <a:r>
              <a:rPr lang="fr-FR" dirty="0" err="1"/>
              <a:t>invoice_id</a:t>
            </a:r>
            <a:r>
              <a:rPr lang="fr-FR" dirty="0"/>
              <a:t>: </a:t>
            </a:r>
            <a:r>
              <a:rPr lang="fr-FR" dirty="0" err="1"/>
              <a:t>int</a:t>
            </a:r>
            <a:r>
              <a:rPr lang="fr-FR" dirty="0"/>
              <a:t>,     </a:t>
            </a:r>
            <a:r>
              <a:rPr lang="fr-FR" dirty="0" err="1"/>
              <a:t>request</a:t>
            </a:r>
            <a:r>
              <a:rPr lang="fr-FR" dirty="0"/>
              <a:t>: </a:t>
            </a:r>
            <a:r>
              <a:rPr lang="fr-FR" dirty="0" err="1"/>
              <a:t>Request</a:t>
            </a:r>
            <a:r>
              <a:rPr lang="fr-FR" dirty="0"/>
              <a:t>,     </a:t>
            </a:r>
            <a:r>
              <a:rPr lang="fr-FR" dirty="0" err="1"/>
              <a:t>db</a:t>
            </a:r>
            <a:r>
              <a:rPr lang="fr-FR" dirty="0"/>
              <a:t>: Session = </a:t>
            </a:r>
            <a:r>
              <a:rPr lang="fr-FR" dirty="0" err="1"/>
              <a:t>Depends</a:t>
            </a:r>
            <a:r>
              <a:rPr lang="fr-FR" dirty="0"/>
              <a:t>(</a:t>
            </a:r>
            <a:r>
              <a:rPr lang="fr-FR" dirty="0" err="1"/>
              <a:t>get_db</a:t>
            </a:r>
            <a:r>
              <a:rPr lang="fr-FR" dirty="0" smtClean="0"/>
              <a:t>),</a:t>
            </a:r>
            <a:r>
              <a:rPr lang="fr-FR" dirty="0"/>
              <a:t>    user: </a:t>
            </a:r>
            <a:r>
              <a:rPr lang="fr-FR" dirty="0" err="1"/>
              <a:t>dict</a:t>
            </a:r>
            <a:r>
              <a:rPr lang="fr-FR" dirty="0"/>
              <a:t> = </a:t>
            </a:r>
            <a:r>
              <a:rPr lang="fr-FR" dirty="0" err="1"/>
              <a:t>Depends</a:t>
            </a:r>
            <a:r>
              <a:rPr lang="fr-FR" dirty="0"/>
              <a:t>(</a:t>
            </a:r>
            <a:r>
              <a:rPr lang="fr-FR" dirty="0" err="1"/>
              <a:t>require_user_type</a:t>
            </a:r>
            <a:r>
              <a:rPr lang="fr-FR" dirty="0"/>
              <a:t>(</a:t>
            </a:r>
            <a:r>
              <a:rPr lang="fr-FR" dirty="0" err="1"/>
              <a:t>UserType.ENTERPRISE</a:t>
            </a:r>
            <a:r>
              <a:rPr lang="fr-FR" dirty="0"/>
              <a:t>)),</a:t>
            </a:r>
          </a:p>
          <a:p>
            <a:r>
              <a:rPr lang="fr-FR" dirty="0"/>
              <a:t>    </a:t>
            </a:r>
            <a:r>
              <a:rPr lang="fr-FR" dirty="0" err="1"/>
              <a:t>enterprise_profile</a:t>
            </a:r>
            <a:r>
              <a:rPr lang="fr-FR" dirty="0"/>
              <a:t>: </a:t>
            </a:r>
            <a:r>
              <a:rPr lang="fr-FR" dirty="0" err="1"/>
              <a:t>EnterpriseProfile</a:t>
            </a:r>
            <a:r>
              <a:rPr lang="fr-FR" dirty="0"/>
              <a:t> = </a:t>
            </a:r>
            <a:r>
              <a:rPr lang="fr-FR" dirty="0" err="1"/>
              <a:t>Depends</a:t>
            </a:r>
            <a:r>
              <a:rPr lang="fr-FR" dirty="0"/>
              <a:t>(</a:t>
            </a:r>
            <a:r>
              <a:rPr lang="fr-FR" dirty="0" err="1"/>
              <a:t>get_enterprise_profile</a:t>
            </a:r>
            <a:r>
              <a:rPr lang="fr-FR" dirty="0"/>
              <a:t>) # </a:t>
            </a:r>
            <a:r>
              <a:rPr lang="fr-FR" dirty="0" err="1"/>
              <a:t>Add</a:t>
            </a:r>
            <a:r>
              <a:rPr lang="fr-FR" dirty="0"/>
              <a:t> </a:t>
            </a:r>
            <a:r>
              <a:rPr lang="fr-FR" dirty="0" err="1"/>
              <a:t>this</a:t>
            </a:r>
            <a:r>
              <a:rPr lang="fr-FR" dirty="0"/>
              <a:t> line to </a:t>
            </a:r>
            <a:r>
              <a:rPr lang="fr-FR" dirty="0" err="1"/>
              <a:t>get</a:t>
            </a:r>
            <a:r>
              <a:rPr lang="fr-FR" dirty="0"/>
              <a:t> the </a:t>
            </a:r>
            <a:r>
              <a:rPr lang="fr-FR" dirty="0" err="1"/>
              <a:t>enterprise</a:t>
            </a:r>
            <a:r>
              <a:rPr lang="fr-FR" dirty="0"/>
              <a:t> profile</a:t>
            </a:r>
          </a:p>
          <a:p>
            <a:r>
              <a:rPr lang="fr-FR" dirty="0" smtClean="0"/>
              <a:t>):</a:t>
            </a:r>
            <a:r>
              <a:rPr lang="fr-FR" dirty="0"/>
              <a:t/>
            </a:r>
            <a:br>
              <a:rPr lang="fr-FR" dirty="0"/>
            </a:br>
            <a:r>
              <a:rPr lang="fr-FR" dirty="0"/>
              <a:t>    # Check </a:t>
            </a:r>
            <a:r>
              <a:rPr lang="fr-FR" dirty="0" err="1"/>
              <a:t>authorization</a:t>
            </a:r>
            <a:endParaRPr lang="fr-FR" dirty="0"/>
          </a:p>
          <a:p>
            <a:r>
              <a:rPr lang="fr-FR" dirty="0"/>
              <a:t>    </a:t>
            </a:r>
            <a:r>
              <a:rPr lang="fr-FR" dirty="0" err="1"/>
              <a:t>auth_check</a:t>
            </a:r>
            <a:r>
              <a:rPr lang="fr-FR" dirty="0"/>
              <a:t> = </a:t>
            </a:r>
            <a:r>
              <a:rPr lang="fr-FR" dirty="0" err="1"/>
              <a:t>check_authorization</a:t>
            </a:r>
            <a:r>
              <a:rPr lang="fr-FR" dirty="0"/>
              <a:t>(user, </a:t>
            </a:r>
            <a:r>
              <a:rPr lang="fr-FR" dirty="0" err="1"/>
              <a:t>redirect</a:t>
            </a:r>
            <a:r>
              <a:rPr lang="fr-FR" dirty="0"/>
              <a:t>=</a:t>
            </a:r>
            <a:r>
              <a:rPr lang="fr-FR" dirty="0" err="1"/>
              <a:t>True</a:t>
            </a:r>
            <a:r>
              <a:rPr lang="fr-FR" dirty="0"/>
              <a:t>)</a:t>
            </a:r>
          </a:p>
          <a:p>
            <a:r>
              <a:rPr lang="fr-FR" dirty="0"/>
              <a:t>    if </a:t>
            </a:r>
            <a:r>
              <a:rPr lang="fr-FR" dirty="0" err="1"/>
              <a:t>auth_check</a:t>
            </a:r>
            <a:r>
              <a:rPr lang="fr-FR" dirty="0"/>
              <a:t>:</a:t>
            </a:r>
          </a:p>
          <a:p>
            <a:r>
              <a:rPr lang="fr-FR" dirty="0"/>
              <a:t>        return </a:t>
            </a:r>
            <a:r>
              <a:rPr lang="fr-FR" dirty="0" err="1"/>
              <a:t>auth_check</a:t>
            </a:r>
            <a:endParaRPr lang="fr-FR" dirty="0"/>
          </a:p>
          <a:p>
            <a:r>
              <a:rPr lang="fr-FR" dirty="0"/>
              <a:t>    </a:t>
            </a:r>
            <a:r>
              <a:rPr lang="fr-FR" dirty="0" err="1"/>
              <a:t>try</a:t>
            </a:r>
            <a:r>
              <a:rPr lang="fr-FR" dirty="0"/>
              <a:t>:</a:t>
            </a:r>
          </a:p>
          <a:p>
            <a:r>
              <a:rPr lang="fr-FR" dirty="0"/>
              <a:t>        </a:t>
            </a:r>
            <a:r>
              <a:rPr lang="fr-FR" dirty="0" err="1"/>
              <a:t>invoice_data</a:t>
            </a:r>
            <a:r>
              <a:rPr lang="fr-FR" dirty="0"/>
              <a:t> = </a:t>
            </a:r>
            <a:r>
              <a:rPr lang="fr-FR" dirty="0" err="1"/>
              <a:t>get_invoice_details</a:t>
            </a:r>
            <a:r>
              <a:rPr lang="fr-FR" dirty="0"/>
              <a:t>(</a:t>
            </a:r>
            <a:r>
              <a:rPr lang="fr-FR" dirty="0" err="1"/>
              <a:t>db</a:t>
            </a:r>
            <a:r>
              <a:rPr lang="fr-FR" dirty="0"/>
              <a:t>, </a:t>
            </a:r>
            <a:r>
              <a:rPr lang="fr-FR" dirty="0" err="1"/>
              <a:t>invoice_id</a:t>
            </a:r>
            <a:r>
              <a:rPr lang="fr-FR" dirty="0"/>
              <a:t>)</a:t>
            </a:r>
          </a:p>
          <a:p>
            <a:r>
              <a:rPr lang="fr-FR" dirty="0"/>
              <a:t>        </a:t>
            </a:r>
            <a:r>
              <a:rPr lang="fr-FR" dirty="0" err="1"/>
              <a:t>html_content</a:t>
            </a:r>
            <a:r>
              <a:rPr lang="fr-FR" dirty="0"/>
              <a:t> = </a:t>
            </a:r>
            <a:r>
              <a:rPr lang="fr-FR" dirty="0" err="1"/>
              <a:t>templates.TemplateResponse</a:t>
            </a:r>
            <a:r>
              <a:rPr lang="fr-FR" dirty="0"/>
              <a:t>(</a:t>
            </a:r>
          </a:p>
          <a:p>
            <a:endParaRPr lang="en-US" sz="3600" b="1" dirty="0" smtClean="0"/>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94830664"/>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en-US" sz="3600" b="1" dirty="0" smtClean="0"/>
              <a:t>Points </a:t>
            </a:r>
            <a:r>
              <a:rPr lang="en-US" sz="3600" b="1" dirty="0"/>
              <a:t>Forts de </a:t>
            </a:r>
            <a:r>
              <a:rPr lang="en-US" sz="3600" b="1" dirty="0" err="1" smtClean="0"/>
              <a:t>l'Implémentation</a:t>
            </a:r>
            <a:endParaRPr lang="en-US" sz="3600" b="1" dirty="0" smtClean="0"/>
          </a:p>
          <a:p>
            <a:r>
              <a:rPr lang="fr-FR" b="1" dirty="0"/>
              <a:t>Exemple de Code </a:t>
            </a:r>
            <a:r>
              <a:rPr lang="fr-FR" b="1" dirty="0" smtClean="0"/>
              <a:t>:</a:t>
            </a:r>
            <a:r>
              <a:rPr lang="fr-FR" dirty="0" smtClean="0"/>
              <a:t> Cet </a:t>
            </a:r>
            <a:r>
              <a:rPr lang="fr-FR" dirty="0"/>
              <a:t>extrait illustre notre approche pour la génération PDF dynamique et l'intégration des </a:t>
            </a:r>
            <a:r>
              <a:rPr lang="fr-FR" dirty="0" smtClean="0"/>
              <a:t>données.</a:t>
            </a:r>
          </a:p>
          <a:p>
            <a:r>
              <a:rPr lang="fr-FR" b="1" dirty="0"/>
              <a:t>Principes de </a:t>
            </a:r>
            <a:r>
              <a:rPr lang="fr-FR" b="1" dirty="0" smtClean="0"/>
              <a:t>Design : </a:t>
            </a:r>
            <a:r>
              <a:rPr lang="fr-FR" dirty="0"/>
              <a:t>Respect des principes de la Clean Architecture" est excellent ! Développez un peu sur ce que cela implique concrètement (Ex: "Séparation des préoccupations, facilité de test, indépendance du </a:t>
            </a:r>
            <a:r>
              <a:rPr lang="fr-FR" dirty="0" smtClean="0"/>
              <a:t>Framework, </a:t>
            </a:r>
            <a:r>
              <a:rPr lang="fr-FR" dirty="0"/>
              <a:t>ce qui assure une maintenabilité et une évolutivité à long </a:t>
            </a:r>
            <a:r>
              <a:rPr lang="fr-FR" dirty="0" smtClean="0"/>
              <a:t>terme</a:t>
            </a:r>
          </a:p>
          <a:p>
            <a:r>
              <a:rPr lang="fr-FR" b="1" dirty="0"/>
              <a:t>Tests</a:t>
            </a:r>
            <a:r>
              <a:rPr lang="fr-FR" dirty="0"/>
              <a:t> Mise en place de tests unitaires pour les calculs de TVA et les logiques métiers critiques, assurant la robustesse du </a:t>
            </a:r>
            <a:r>
              <a:rPr lang="fr-FR" dirty="0" smtClean="0"/>
              <a:t>système</a:t>
            </a:r>
          </a:p>
          <a:p>
            <a:r>
              <a:rPr lang="fr-FR" dirty="0"/>
              <a:t>Gestion des erreurs / </a:t>
            </a:r>
            <a:r>
              <a:rPr lang="fr-FR" dirty="0" err="1" smtClean="0"/>
              <a:t>Logging</a:t>
            </a:r>
            <a:r>
              <a:rPr lang="fr-FR" dirty="0" smtClean="0"/>
              <a:t> :</a:t>
            </a:r>
            <a:endParaRPr lang="fr-FR" b="1" dirty="0" smtClean="0"/>
          </a:p>
          <a:p>
            <a:endParaRPr lang="fr-FR" dirty="0" smtClean="0"/>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03864602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en-US" sz="3600" b="1" dirty="0" err="1" smtClean="0"/>
              <a:t>Fonctionnalités</a:t>
            </a:r>
            <a:r>
              <a:rPr lang="en-US" sz="3600" b="1" dirty="0" smtClean="0"/>
              <a:t> </a:t>
            </a:r>
            <a:r>
              <a:rPr lang="en-US" sz="3600" b="1" dirty="0"/>
              <a:t>de </a:t>
            </a:r>
            <a:r>
              <a:rPr lang="en-US" sz="3600" b="1" dirty="0" err="1"/>
              <a:t>Sécurité</a:t>
            </a:r>
            <a:endParaRPr lang="en-US" sz="3600" b="1" dirty="0"/>
          </a:p>
          <a:p>
            <a:r>
              <a:rPr lang="fr-FR" b="1" dirty="0"/>
              <a:t>Détails sur l'authentification </a:t>
            </a:r>
            <a:r>
              <a:rPr lang="fr-FR" b="1" dirty="0" smtClean="0"/>
              <a:t>: </a:t>
            </a:r>
            <a:r>
              <a:rPr lang="fr-FR" dirty="0"/>
              <a:t>Quel type d'authentification ? (Ex: "Authentification basée sur les </a:t>
            </a:r>
            <a:r>
              <a:rPr lang="fr-FR" dirty="0" err="1"/>
              <a:t>tokens</a:t>
            </a:r>
            <a:r>
              <a:rPr lang="fr-FR" dirty="0"/>
              <a:t> JWT pour une sécurité renforcée des API</a:t>
            </a:r>
            <a:endParaRPr lang="fr-FR" b="1" dirty="0" smtClean="0"/>
          </a:p>
          <a:p>
            <a:r>
              <a:rPr lang="fr-FR" b="1" dirty="0"/>
              <a:t>Contrôle </a:t>
            </a:r>
            <a:r>
              <a:rPr lang="fr-FR" b="1" dirty="0" smtClean="0"/>
              <a:t>d'accès:</a:t>
            </a:r>
            <a:r>
              <a:rPr lang="fr-FR" dirty="0"/>
              <a:t> Implémentation d'un contrôle d'accès basé sur les rôles (RBAC) pour restreindre l'accès aux fonctionnalités sensibles en fonction du profil utilisateur Validation du profil </a:t>
            </a:r>
            <a:r>
              <a:rPr lang="fr-FR" dirty="0" smtClean="0"/>
              <a:t>entreprise</a:t>
            </a:r>
          </a:p>
          <a:p>
            <a:r>
              <a:rPr lang="fr-FR" b="1" dirty="0"/>
              <a:t>Validation des </a:t>
            </a:r>
            <a:r>
              <a:rPr lang="fr-FR" b="1" dirty="0" smtClean="0"/>
              <a:t>données:</a:t>
            </a:r>
            <a:r>
              <a:rPr lang="fr-FR" dirty="0"/>
              <a:t> Utilisation des </a:t>
            </a:r>
            <a:r>
              <a:rPr lang="fr-FR" dirty="0" err="1"/>
              <a:t>Pydantic</a:t>
            </a:r>
            <a:r>
              <a:rPr lang="fr-FR" dirty="0"/>
              <a:t> </a:t>
            </a:r>
            <a:r>
              <a:rPr lang="fr-FR" dirty="0" err="1"/>
              <a:t>Models</a:t>
            </a:r>
            <a:r>
              <a:rPr lang="fr-FR" dirty="0"/>
              <a:t> de </a:t>
            </a:r>
            <a:r>
              <a:rPr lang="fr-FR" dirty="0" err="1"/>
              <a:t>FastAPI</a:t>
            </a:r>
            <a:r>
              <a:rPr lang="fr-FR" dirty="0"/>
              <a:t> pour une validation robuste des données entrantes et sortantes, protégeant ainsi l'intégrité de la base de données</a:t>
            </a:r>
            <a:endParaRPr lang="fr-FR" b="1" dirty="0"/>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50106769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en-US" sz="3600" b="1" dirty="0" err="1" smtClean="0"/>
              <a:t>Prérequis</a:t>
            </a:r>
            <a:r>
              <a:rPr lang="en-US" sz="3600" b="1" dirty="0" smtClean="0"/>
              <a:t> </a:t>
            </a:r>
            <a:r>
              <a:rPr lang="en-US" sz="3600" b="1" dirty="0"/>
              <a:t>de </a:t>
            </a:r>
            <a:r>
              <a:rPr lang="en-US" sz="3600" b="1" dirty="0" err="1"/>
              <a:t>Déploiement</a:t>
            </a:r>
            <a:endParaRPr lang="en-US" sz="3600" b="1" dirty="0" smtClean="0"/>
          </a:p>
          <a:p>
            <a:r>
              <a:rPr lang="fr-FR" dirty="0"/>
              <a:t>Python 3.7+</a:t>
            </a:r>
          </a:p>
          <a:p>
            <a:r>
              <a:rPr lang="fr-FR" dirty="0" err="1"/>
              <a:t>FastAPI</a:t>
            </a:r>
            <a:endParaRPr lang="fr-FR" dirty="0"/>
          </a:p>
          <a:p>
            <a:r>
              <a:rPr lang="fr-FR" dirty="0" err="1"/>
              <a:t>WeasyPrint</a:t>
            </a:r>
            <a:endParaRPr lang="fr-FR" dirty="0"/>
          </a:p>
          <a:p>
            <a:r>
              <a:rPr lang="fr-FR" dirty="0"/>
              <a:t>Base de données SQL</a:t>
            </a:r>
          </a:p>
          <a:p>
            <a:r>
              <a:rPr lang="fr-FR" dirty="0"/>
              <a:t>Hébergement de fichiers </a:t>
            </a:r>
            <a:r>
              <a:rPr lang="fr-FR" dirty="0" smtClean="0"/>
              <a:t>statiques</a:t>
            </a:r>
          </a:p>
          <a:p>
            <a:r>
              <a:rPr lang="en-US" dirty="0" smtClean="0"/>
              <a:t>Poetry </a:t>
            </a:r>
            <a:endParaRPr lang="fr-FR" dirty="0"/>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9764273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en-US" sz="3600" b="1" dirty="0" err="1" smtClean="0"/>
              <a:t>Prérequis</a:t>
            </a:r>
            <a:r>
              <a:rPr lang="en-US" sz="3600" b="1" dirty="0" smtClean="0"/>
              <a:t> </a:t>
            </a:r>
            <a:r>
              <a:rPr lang="en-US" sz="3600" b="1" dirty="0"/>
              <a:t>de </a:t>
            </a:r>
            <a:r>
              <a:rPr lang="en-US" sz="3600" b="1" dirty="0" err="1" smtClean="0"/>
              <a:t>Déploiement</a:t>
            </a:r>
            <a:endParaRPr lang="en-US" sz="3600" b="1" dirty="0" smtClean="0"/>
          </a:p>
          <a:p>
            <a:r>
              <a:rPr lang="fr-FR" b="1" dirty="0"/>
              <a:t>Conteneurisation via Docker </a:t>
            </a:r>
            <a:r>
              <a:rPr lang="fr-FR" dirty="0"/>
              <a:t>pour un déploiement facilité et une portabilité maximale.</a:t>
            </a:r>
            <a:endParaRPr lang="fr-FR" dirty="0" smtClean="0"/>
          </a:p>
          <a:p>
            <a:r>
              <a:rPr lang="fr-FR" b="1" dirty="0"/>
              <a:t>Gestion des </a:t>
            </a:r>
            <a:r>
              <a:rPr lang="fr-FR" b="1" dirty="0" smtClean="0"/>
              <a:t>dépendances </a:t>
            </a:r>
            <a:r>
              <a:rPr lang="fr-FR" b="1" dirty="0"/>
              <a:t>: </a:t>
            </a:r>
            <a:r>
              <a:rPr lang="fr-FR" dirty="0"/>
              <a:t>Utilisation de requirements.txt ou </a:t>
            </a:r>
            <a:r>
              <a:rPr lang="fr-FR" dirty="0" err="1"/>
              <a:t>Poetry</a:t>
            </a:r>
            <a:r>
              <a:rPr lang="fr-FR" dirty="0"/>
              <a:t> pour une gestion claire des dépendances Python</a:t>
            </a:r>
            <a:r>
              <a:rPr lang="fr-FR" dirty="0" smtClean="0"/>
              <a:t>.</a:t>
            </a:r>
          </a:p>
          <a:p>
            <a:r>
              <a:rPr lang="fr-FR" b="1" dirty="0" err="1"/>
              <a:t>Poetry</a:t>
            </a:r>
            <a:r>
              <a:rPr lang="fr-FR" dirty="0"/>
              <a:t> est un outil de gestion de dépendances et de paquets en Python. Il vise à simplifier la gestion des projets Python en s'occupant de l'installation, de la résolution des dépendances et de la publication des paquets.</a:t>
            </a:r>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8580633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823690"/>
          </a:xfrm>
        </p:spPr>
        <p:txBody>
          <a:bodyPr>
            <a:normAutofit fontScale="90000"/>
          </a:bodyPr>
          <a:lstStyle/>
          <a:p>
            <a:pPr algn="ctr"/>
            <a:r>
              <a:rPr lang="fr-FR" sz="5300" b="1" dirty="0"/>
              <a:t>Facturation</a:t>
            </a:r>
            <a:r>
              <a:rPr lang="fr-FR" b="1" dirty="0"/>
              <a:t> </a:t>
            </a:r>
            <a:br>
              <a:rPr lang="fr-FR" b="1" dirty="0"/>
            </a:br>
            <a:endParaRPr lang="fr-FR" dirty="0"/>
          </a:p>
        </p:txBody>
      </p:sp>
      <p:sp>
        <p:nvSpPr>
          <p:cNvPr id="5" name="Content Placeholder 4"/>
          <p:cNvSpPr>
            <a:spLocks noGrp="1"/>
          </p:cNvSpPr>
          <p:nvPr>
            <p:ph idx="1"/>
          </p:nvPr>
        </p:nvSpPr>
        <p:spPr>
          <a:xfrm>
            <a:off x="2589212" y="1573823"/>
            <a:ext cx="8915400" cy="4337399"/>
          </a:xfrm>
        </p:spPr>
        <p:txBody>
          <a:bodyPr>
            <a:normAutofit/>
          </a:bodyPr>
          <a:lstStyle/>
          <a:p>
            <a:r>
              <a:rPr lang="en-US" sz="3600" b="1" dirty="0" err="1" smtClean="0"/>
              <a:t>Améliorations</a:t>
            </a:r>
            <a:r>
              <a:rPr lang="en-US" sz="3600" b="1" dirty="0" smtClean="0"/>
              <a:t> </a:t>
            </a:r>
            <a:r>
              <a:rPr lang="en-US" sz="3600" b="1" dirty="0"/>
              <a:t>Futures</a:t>
            </a:r>
          </a:p>
          <a:p>
            <a:r>
              <a:rPr lang="fr-FR" dirty="0"/>
              <a:t>Support multi-langues</a:t>
            </a:r>
          </a:p>
          <a:p>
            <a:r>
              <a:rPr lang="fr-FR" dirty="0"/>
              <a:t>Intégration de paiements supplémentaires</a:t>
            </a:r>
          </a:p>
          <a:p>
            <a:r>
              <a:rPr lang="fr-FR" dirty="0"/>
              <a:t>Personnalisation des modèles de factures</a:t>
            </a:r>
          </a:p>
          <a:p>
            <a:r>
              <a:rPr lang="fr-FR" dirty="0"/>
              <a:t>Système de notification par </a:t>
            </a:r>
            <a:r>
              <a:rPr lang="fr-FR" dirty="0" smtClean="0"/>
              <a:t>email</a:t>
            </a:r>
          </a:p>
          <a:p>
            <a:r>
              <a:rPr lang="en-US" dirty="0" smtClean="0"/>
              <a:t>Version mobile</a:t>
            </a:r>
          </a:p>
          <a:p>
            <a:r>
              <a:rPr lang="en-US" dirty="0" smtClean="0"/>
              <a:t>Auto response Client </a:t>
            </a:r>
            <a:r>
              <a:rPr lang="en-US" dirty="0" err="1" smtClean="0"/>
              <a:t>d’apres</a:t>
            </a:r>
            <a:r>
              <a:rPr lang="en-US" dirty="0" smtClean="0"/>
              <a:t> question de client</a:t>
            </a:r>
          </a:p>
          <a:p>
            <a:r>
              <a:rPr lang="en-US" dirty="0" smtClean="0"/>
              <a:t>Integration de </a:t>
            </a:r>
            <a:r>
              <a:rPr lang="en-US" dirty="0" err="1" smtClean="0"/>
              <a:t>l’AI</a:t>
            </a:r>
            <a:r>
              <a:rPr lang="en-US" dirty="0" smtClean="0"/>
              <a:t>(</a:t>
            </a:r>
            <a:r>
              <a:rPr lang="en-US" dirty="0" err="1" smtClean="0"/>
              <a:t>ChatGpt</a:t>
            </a:r>
            <a:r>
              <a:rPr lang="en-US" dirty="0" smtClean="0"/>
              <a:t>)</a:t>
            </a:r>
          </a:p>
          <a:p>
            <a:pPr marL="0" indent="0">
              <a:buNone/>
            </a:pPr>
            <a:endParaRPr lang="fr-FR" dirty="0"/>
          </a:p>
        </p:txBody>
      </p:sp>
      <p:sp>
        <p:nvSpPr>
          <p:cNvPr id="2" name="Rectangle 1"/>
          <p:cNvSpPr>
            <a:spLocks noChangeArrowheads="1"/>
          </p:cNvSpPr>
          <p:nvPr/>
        </p:nvSpPr>
        <p:spPr bwMode="auto">
          <a:xfrm>
            <a:off x="0" y="0"/>
            <a:ext cx="12192000" cy="0"/>
          </a:xfrm>
          <a:prstGeom prst="rect">
            <a:avLst/>
          </a:prstGeom>
          <a:solidFill>
            <a:srgbClr val="1818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/report/invoiceNumber/{invoice_id}</a:t>
            </a:r>
            <a:r>
              <a:rPr kumimoji="0" lang="fr-FR" altLang="fr-FR" sz="900" b="0" i="0" u="none" strike="noStrike" cap="none" normalizeH="0" baseline="0" smtClean="0">
                <a:ln>
                  <a:noFill/>
                </a:ln>
                <a:solidFill>
                  <a:srgbClr val="CCCCCC"/>
                </a:solidFill>
                <a:effectLst/>
                <a:latin typeface="Segoe WPC"/>
              </a:rPr>
              <a:t>: Générer formulaire de facture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900" b="0" i="0" u="none" strike="noStrike" cap="none" normalizeH="0" baseline="0" smtClean="0">
                <a:ln>
                  <a:noFill/>
                </a:ln>
                <a:solidFill>
                  <a:srgbClr val="CCCCCC"/>
                </a:solidFill>
                <a:effectLst/>
                <a:latin typeface="var(--monaco-monospace-font)"/>
              </a:rPr>
              <a:t>GET /report/pdf/{invoice_id}</a:t>
            </a:r>
            <a:r>
              <a:rPr kumimoji="0" lang="fr-FR" altLang="fr-FR" sz="900" b="0" i="0" u="none" strike="noStrike" cap="none" normalizeH="0" baseline="0" smtClean="0">
                <a:ln>
                  <a:noFill/>
                </a:ln>
                <a:solidFill>
                  <a:srgbClr val="CCCCCC"/>
                </a:solidFill>
                <a:effectLst/>
                <a:latin typeface="Segoe WPC"/>
              </a:rPr>
              <a:t>: Générer facture 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036348352"/>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42000">
              <a:schemeClr val="accent1">
                <a:lumMod val="0"/>
                <a:lumOff val="100000"/>
              </a:schemeClr>
            </a:gs>
            <a:gs pos="100000">
              <a:schemeClr val="accent1">
                <a:lumMod val="60000"/>
                <a:lumOff val="40000"/>
              </a:schemeClr>
            </a:gs>
          </a:gsLst>
          <a:lin ang="2700000" scaled="1"/>
          <a:tileRect/>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2592925" y="624110"/>
            <a:ext cx="8911687" cy="729905"/>
          </a:xfrm>
        </p:spPr>
        <p:txBody>
          <a:bodyPr/>
          <a:lstStyle/>
          <a:p>
            <a:endParaRPr lang="fr-FR" dirty="0"/>
          </a:p>
        </p:txBody>
      </p:sp>
      <p:sp>
        <p:nvSpPr>
          <p:cNvPr id="5" name="Content Placeholder 4"/>
          <p:cNvSpPr>
            <a:spLocks noGrp="1"/>
          </p:cNvSpPr>
          <p:nvPr>
            <p:ph idx="1"/>
          </p:nvPr>
        </p:nvSpPr>
        <p:spPr>
          <a:xfrm>
            <a:off x="2589212" y="1573823"/>
            <a:ext cx="8915400" cy="4337399"/>
          </a:xfrm>
        </p:spPr>
        <p:txBody>
          <a:bodyPr/>
          <a:lstStyle/>
          <a:p>
            <a:endParaRPr lang="fr-FR" dirty="0"/>
          </a:p>
        </p:txBody>
      </p:sp>
    </p:spTree>
    <p:extLst>
      <p:ext uri="{BB962C8B-B14F-4D97-AF65-F5344CB8AC3E}">
        <p14:creationId xmlns:p14="http://schemas.microsoft.com/office/powerpoint/2010/main" val="1857639600"/>
      </p:ext>
    </p:extLst>
  </p:cSld>
  <p:clrMapOvr>
    <a:masterClrMapping/>
  </p:clrMapOvr>
  <p:timing>
    <p:tnLst>
      <p:par>
        <p:cTn id="1" dur="indefinite" restart="never" nodeType="tmRoot"/>
      </p:par>
    </p:tnLst>
  </p:timing>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docProps/app.xml><?xml version="1.0" encoding="utf-8"?>
<Properties xmlns="http://schemas.openxmlformats.org/officeDocument/2006/extended-properties" xmlns:vt="http://schemas.openxmlformats.org/officeDocument/2006/docPropsVTypes">
  <Template>TM02892315[[fn=Wisp]]</Template>
  <TotalTime>844</TotalTime>
  <Words>1575</Words>
  <Application>Microsoft Office PowerPoint</Application>
  <PresentationFormat>Widescreen</PresentationFormat>
  <Paragraphs>176</Paragraphs>
  <Slides>26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26</vt:i4>
      </vt:variant>
    </vt:vector>
  </HeadingPairs>
  <TitlesOfParts>
    <vt:vector size="33" baseType="lpstr">
      <vt:lpstr>Arial</vt:lpstr>
      <vt:lpstr>Century Gothic</vt:lpstr>
      <vt:lpstr>Segoe WPC</vt:lpstr>
      <vt:lpstr>var(--monaco-monospace-font)</vt:lpstr>
      <vt:lpstr>Wingdings</vt:lpstr>
      <vt:lpstr>Wingdings 3</vt:lpstr>
      <vt:lpstr>Wisp</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Facturation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Facturation</dc:title>
  <dc:creator>Ameer Chand</dc:creator>
  <cp:lastModifiedBy>Ameer Chand</cp:lastModifiedBy>
  <cp:revision>37</cp:revision>
  <dcterms:created xsi:type="dcterms:W3CDTF">2025-06-07T10:33:57Z</dcterms:created>
  <dcterms:modified xsi:type="dcterms:W3CDTF">2025-06-08T16:27:04Z</dcterms:modified>
</cp:coreProperties>
</file>